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2"/>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DC2626"/>
          </a:solidFill>
          <a:ln/>
        </p:spPr>
      </p:sp>
      <p:sp>
        <p:nvSpPr>
          <p:cNvPr id="3" name="Text 1"/>
          <p:cNvSpPr/>
          <p:nvPr/>
        </p:nvSpPr>
        <p:spPr>
          <a:xfrm>
            <a:off x="731520" y="1097280"/>
            <a:ext cx="7680960" cy="640080"/>
          </a:xfrm>
          <a:prstGeom prst="rect">
            <a:avLst/>
          </a:prstGeom>
          <a:noFill/>
          <a:ln/>
        </p:spPr>
        <p:txBody>
          <a:bodyPr wrap="square" lIns="0" tIns="0" rIns="0" bIns="0" rtlCol="0" anchor="ctr"/>
          <a:lstStyle/>
          <a:p>
            <a:pPr indent="0" marL="0">
              <a:buNone/>
            </a:pPr>
            <a:r>
              <a:rPr lang="en-US" sz="4200" spc="800" kern="0" dirty="0">
                <a:solidFill>
                  <a:srgbClr val="FFFFFF"/>
                </a:solidFill>
                <a:latin typeface="Arial Black" pitchFamily="34" charset="0"/>
                <a:ea typeface="Arial Black" pitchFamily="34" charset="-122"/>
                <a:cs typeface="Arial Black" pitchFamily="34" charset="-120"/>
              </a:rPr>
              <a:t>SINO-SIGNALS</a:t>
            </a:r>
            <a:endParaRPr lang="en-US" sz="4200" dirty="0"/>
          </a:p>
        </p:txBody>
      </p:sp>
      <p:sp>
        <p:nvSpPr>
          <p:cNvPr id="4" name="Text 2"/>
          <p:cNvSpPr/>
          <p:nvPr/>
        </p:nvSpPr>
        <p:spPr>
          <a:xfrm>
            <a:off x="731520" y="1737360"/>
            <a:ext cx="7680960" cy="411480"/>
          </a:xfrm>
          <a:prstGeom prst="rect">
            <a:avLst/>
          </a:prstGeom>
          <a:noFill/>
          <a:ln/>
        </p:spPr>
        <p:txBody>
          <a:bodyPr wrap="square" lIns="0" tIns="0" rIns="0" bIns="0" rtlCol="0" anchor="ctr"/>
          <a:lstStyle/>
          <a:p>
            <a:pPr indent="0" marL="0">
              <a:buNone/>
            </a:pPr>
            <a:r>
              <a:rPr lang="en-US" sz="2200" dirty="0">
                <a:solidFill>
                  <a:srgbClr val="94A3B8"/>
                </a:solidFill>
                <a:latin typeface="Arial" pitchFamily="34" charset="0"/>
                <a:ea typeface="Arial" pitchFamily="34" charset="-122"/>
                <a:cs typeface="Arial" pitchFamily="34" charset="-120"/>
              </a:rPr>
              <a:t>中国信号</a:t>
            </a:r>
            <a:endParaRPr lang="en-US" sz="2200" dirty="0"/>
          </a:p>
        </p:txBody>
      </p:sp>
      <p:sp>
        <p:nvSpPr>
          <p:cNvPr id="5" name="Text 3"/>
          <p:cNvSpPr/>
          <p:nvPr/>
        </p:nvSpPr>
        <p:spPr>
          <a:xfrm>
            <a:off x="731520" y="2377440"/>
            <a:ext cx="7680960" cy="365760"/>
          </a:xfrm>
          <a:prstGeom prst="rect">
            <a:avLst/>
          </a:prstGeom>
          <a:noFill/>
          <a:ln/>
        </p:spPr>
        <p:txBody>
          <a:bodyPr wrap="square" lIns="0" tIns="0" rIns="0" bIns="0" rtlCol="0" anchor="ctr"/>
          <a:lstStyle/>
          <a:p>
            <a:pPr indent="0" marL="0">
              <a:buNone/>
            </a:pPr>
            <a:r>
              <a:rPr lang="en-US" sz="1800" dirty="0">
                <a:solidFill>
                  <a:srgbClr val="E8ECF0"/>
                </a:solidFill>
                <a:latin typeface="Calibri" pitchFamily="34" charset="0"/>
                <a:ea typeface="Calibri" pitchFamily="34" charset="-122"/>
                <a:cs typeface="Calibri" pitchFamily="34" charset="-120"/>
              </a:rPr>
              <a:t>China Mobility &amp; Transportation Intelligence</a:t>
            </a:r>
            <a:endParaRPr lang="en-US" sz="1800" dirty="0"/>
          </a:p>
        </p:txBody>
      </p:sp>
      <p:sp>
        <p:nvSpPr>
          <p:cNvPr id="6" name="Text 4"/>
          <p:cNvSpPr/>
          <p:nvPr/>
        </p:nvSpPr>
        <p:spPr>
          <a:xfrm>
            <a:off x="731520" y="2743200"/>
            <a:ext cx="7680960" cy="36576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中国出行与交通情报</a:t>
            </a:r>
            <a:endParaRPr lang="en-US" sz="1600" dirty="0"/>
          </a:p>
        </p:txBody>
      </p:sp>
      <p:sp>
        <p:nvSpPr>
          <p:cNvPr id="7" name="Text 5"/>
          <p:cNvSpPr/>
          <p:nvPr/>
        </p:nvSpPr>
        <p:spPr>
          <a:xfrm>
            <a:off x="731520" y="3657600"/>
            <a:ext cx="7680960" cy="320040"/>
          </a:xfrm>
          <a:prstGeom prst="rect">
            <a:avLst/>
          </a:prstGeom>
          <a:noFill/>
          <a:ln/>
        </p:spPr>
        <p:txBody>
          <a:bodyPr wrap="square" lIns="0" tIns="0" rIns="0" bIns="0" rtlCol="0" anchor="ctr"/>
          <a:lstStyle/>
          <a:p>
            <a:pPr indent="0" marL="0">
              <a:buNone/>
            </a:pPr>
            <a:r>
              <a:rPr lang="en-US" sz="1400" dirty="0">
                <a:solidFill>
                  <a:srgbClr val="F59E0B"/>
                </a:solidFill>
                <a:latin typeface="Calibri" pitchFamily="34" charset="0"/>
                <a:ea typeface="Calibri" pitchFamily="34" charset="-122"/>
                <a:cs typeface="Calibri" pitchFamily="34" charset="-120"/>
              </a:rPr>
              <a:t>April 8, 2026  /  2026年4月8日</a:t>
            </a:r>
            <a:endParaRPr lang="en-US" sz="1400" dirty="0"/>
          </a:p>
        </p:txBody>
      </p:sp>
      <p:sp>
        <p:nvSpPr>
          <p:cNvPr id="8" name="Text 6"/>
          <p:cNvSpPr/>
          <p:nvPr/>
        </p:nvSpPr>
        <p:spPr>
          <a:xfrm>
            <a:off x="731520" y="4206240"/>
            <a:ext cx="768096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josephpress.com/sino-signals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DC2626"/>
          </a:solidFill>
          <a:ln/>
        </p:spPr>
      </p:sp>
      <p:sp>
        <p:nvSpPr>
          <p:cNvPr id="3" name="Shape 1"/>
          <p:cNvSpPr/>
          <p:nvPr/>
        </p:nvSpPr>
        <p:spPr>
          <a:xfrm>
            <a:off x="457200" y="182880"/>
            <a:ext cx="365760" cy="365760"/>
          </a:xfrm>
          <a:prstGeom prst="rect">
            <a:avLst/>
          </a:prstGeom>
          <a:solidFill>
            <a:srgbClr val="DC2626"/>
          </a:solidFill>
          <a:ln/>
        </p:spPr>
      </p:sp>
      <p:sp>
        <p:nvSpPr>
          <p:cNvPr id="4" name="Text 2"/>
          <p:cNvSpPr/>
          <p:nvPr/>
        </p:nvSpPr>
        <p:spPr>
          <a:xfrm>
            <a:off x="457200" y="182880"/>
            <a:ext cx="3657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rial Black" pitchFamily="34" charset="0"/>
                <a:ea typeface="Arial Black" pitchFamily="34" charset="-122"/>
                <a:cs typeface="Arial Black" pitchFamily="34" charset="-120"/>
              </a:rPr>
              <a:t>01</a:t>
            </a:r>
            <a:endParaRPr lang="en-US" sz="1600" dirty="0"/>
          </a:p>
        </p:txBody>
      </p:sp>
      <p:sp>
        <p:nvSpPr>
          <p:cNvPr id="5" name="Text 3"/>
          <p:cNvSpPr/>
          <p:nvPr/>
        </p:nvSpPr>
        <p:spPr>
          <a:xfrm>
            <a:off x="7498080" y="201168"/>
            <a:ext cx="1188720" cy="292608"/>
          </a:xfrm>
          <a:prstGeom prst="rect">
            <a:avLst/>
          </a:prstGeom>
          <a:solidFill>
            <a:srgbClr val="DC2626"/>
          </a:solid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STRONG</a:t>
            </a:r>
            <a:endParaRPr lang="en-US" sz="900" dirty="0"/>
          </a:p>
        </p:txBody>
      </p:sp>
      <p:sp>
        <p:nvSpPr>
          <p:cNvPr id="6" name="Text 4"/>
          <p:cNvSpPr/>
          <p:nvPr/>
        </p:nvSpPr>
        <p:spPr>
          <a:xfrm>
            <a:off x="960120" y="164592"/>
            <a:ext cx="3474720" cy="411480"/>
          </a:xfrm>
          <a:prstGeom prst="rect">
            <a:avLst/>
          </a:prstGeom>
          <a:noFill/>
          <a:ln/>
        </p:spPr>
        <p:txBody>
          <a:bodyPr wrap="square" lIns="0" tIns="0" rIns="0" bIns="0" rtlCol="0" anchor="ctr"/>
          <a:lstStyle/>
          <a:p>
            <a:pPr indent="0" marL="0">
              <a:buNone/>
            </a:pPr>
            <a:r>
              <a:rPr lang="en-US" sz="1300" b="1" dirty="0">
                <a:solidFill>
                  <a:srgbClr val="1A2332"/>
                </a:solidFill>
                <a:latin typeface="Calibri" pitchFamily="34" charset="0"/>
                <a:ea typeface="Calibri" pitchFamily="34" charset="-122"/>
                <a:cs typeface="Calibri" pitchFamily="34" charset="-120"/>
              </a:rPr>
              <a:t>eVTOL &amp; Low-Altitude Economy Enters Commercial Operations</a:t>
            </a:r>
            <a:endParaRPr lang="en-US" sz="1300" dirty="0"/>
          </a:p>
        </p:txBody>
      </p:sp>
      <p:sp>
        <p:nvSpPr>
          <p:cNvPr id="7" name="Text 5"/>
          <p:cNvSpPr/>
          <p:nvPr/>
        </p:nvSpPr>
        <p:spPr>
          <a:xfrm>
            <a:off x="4663440" y="164592"/>
            <a:ext cx="2743200" cy="411480"/>
          </a:xfrm>
          <a:prstGeom prst="rect">
            <a:avLst/>
          </a:prstGeom>
          <a:noFill/>
          <a:ln/>
        </p:spPr>
        <p:txBody>
          <a:bodyPr wrap="square" lIns="0" tIns="0" rIns="0" bIns="0" rtlCol="0" anchor="ctr"/>
          <a:lstStyle/>
          <a:p>
            <a:pPr indent="0" marL="0">
              <a:buNone/>
            </a:pPr>
            <a:r>
              <a:rPr lang="en-US" sz="1200" dirty="0">
                <a:solidFill>
                  <a:srgbClr val="334155"/>
                </a:solidFill>
                <a:latin typeface="Arial" pitchFamily="34" charset="0"/>
                <a:ea typeface="Arial" pitchFamily="34" charset="-122"/>
                <a:cs typeface="Arial" pitchFamily="34" charset="-120"/>
              </a:rPr>
              <a:t>低空经济与eVTOL进入商业运营元年</a:t>
            </a:r>
            <a:endParaRPr lang="en-US" sz="1200" dirty="0"/>
          </a:p>
        </p:txBody>
      </p:sp>
      <p:sp>
        <p:nvSpPr>
          <p:cNvPr id="8" name="Shape 6"/>
          <p:cNvSpPr/>
          <p:nvPr/>
        </p:nvSpPr>
        <p:spPr>
          <a:xfrm>
            <a:off x="4526280" y="685800"/>
            <a:ext cx="0" cy="4114800"/>
          </a:xfrm>
          <a:prstGeom prst="line">
            <a:avLst/>
          </a:prstGeom>
          <a:noFill/>
          <a:ln w="12700">
            <a:solidFill>
              <a:srgbClr val="CBD5E1"/>
            </a:solidFill>
            <a:prstDash val="solid"/>
          </a:ln>
        </p:spPr>
      </p:sp>
      <p:sp>
        <p:nvSpPr>
          <p:cNvPr id="9" name="Text 7"/>
          <p:cNvSpPr/>
          <p:nvPr/>
        </p:nvSpPr>
        <p:spPr>
          <a:xfrm>
            <a:off x="457200" y="640080"/>
            <a:ext cx="3931920" cy="22860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ENGLISH</a:t>
            </a:r>
            <a:endParaRPr lang="en-US" sz="800" dirty="0"/>
          </a:p>
        </p:txBody>
      </p:sp>
      <p:sp>
        <p:nvSpPr>
          <p:cNvPr id="10" name="Text 8"/>
          <p:cNvSpPr/>
          <p:nvPr/>
        </p:nvSpPr>
        <p:spPr>
          <a:xfrm>
            <a:off x="4663440" y="640080"/>
            <a:ext cx="4023360" cy="22860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中文</a:t>
            </a:r>
            <a:endParaRPr lang="en-US" sz="800" dirty="0"/>
          </a:p>
        </p:txBody>
      </p:sp>
      <p:sp>
        <p:nvSpPr>
          <p:cNvPr id="11" name="Shape 9"/>
          <p:cNvSpPr/>
          <p:nvPr/>
        </p:nvSpPr>
        <p:spPr>
          <a:xfrm>
            <a:off x="457200" y="914400"/>
            <a:ext cx="8229600" cy="502920"/>
          </a:xfrm>
          <a:prstGeom prst="rect">
            <a:avLst/>
          </a:prstGeom>
          <a:solidFill>
            <a:srgbClr val="0F1722"/>
          </a:solidFill>
          <a:ln/>
          <a:effectLst>
            <a:outerShdw sx="100000" sy="100000" kx="0" ky="0" algn="bl" rotWithShape="0" blurRad="76200" dist="25400" dir="8100000">
              <a:srgbClr val="000000">
                <a:alpha val="10000"/>
              </a:srgbClr>
            </a:outerShdw>
          </a:effectLst>
        </p:spPr>
      </p:sp>
      <p:sp>
        <p:nvSpPr>
          <p:cNvPr id="12" name="Text 10"/>
          <p:cNvSpPr/>
          <p:nvPr/>
        </p:nvSpPr>
        <p:spPr>
          <a:xfrm>
            <a:off x="640080" y="914400"/>
            <a:ext cx="3749040" cy="502920"/>
          </a:xfrm>
          <a:prstGeom prst="rect">
            <a:avLst/>
          </a:prstGeom>
          <a:noFill/>
          <a:ln/>
        </p:spPr>
        <p:txBody>
          <a:bodyPr wrap="square" lIns="0" tIns="0" rIns="0" bIns="0" rtlCol="0" anchor="ctr"/>
          <a:lstStyle/>
          <a:p>
            <a:pPr indent="0" marL="0">
              <a:buNone/>
            </a:pPr>
            <a:r>
              <a:rPr lang="en-US" sz="1400" dirty="0">
                <a:solidFill>
                  <a:srgbClr val="F59E0B"/>
                </a:solidFill>
                <a:latin typeface="Arial Black" pitchFamily="34" charset="0"/>
                <a:ea typeface="Arial Black" pitchFamily="34" charset="-122"/>
                <a:cs typeface="Arial Black" pitchFamily="34" charset="-120"/>
              </a:rPr>
              <a:t>1.5T ¥  market size (2025)</a:t>
            </a:r>
            <a:endParaRPr lang="en-US" sz="1400" dirty="0"/>
          </a:p>
        </p:txBody>
      </p:sp>
      <p:sp>
        <p:nvSpPr>
          <p:cNvPr id="13" name="Text 11"/>
          <p:cNvSpPr/>
          <p:nvPr/>
        </p:nvSpPr>
        <p:spPr>
          <a:xfrm>
            <a:off x="4754880" y="914400"/>
            <a:ext cx="3749040" cy="502920"/>
          </a:xfrm>
          <a:prstGeom prst="rect">
            <a:avLst/>
          </a:prstGeom>
          <a:noFill/>
          <a:ln/>
        </p:spPr>
        <p:txBody>
          <a:bodyPr wrap="square" lIns="0" tIns="0" rIns="0" bIns="0" rtlCol="0" anchor="ctr"/>
          <a:lstStyle/>
          <a:p>
            <a:pPr indent="0" marL="0">
              <a:buNone/>
            </a:pPr>
            <a:r>
              <a:rPr lang="en-US" sz="1400" dirty="0">
                <a:solidFill>
                  <a:srgbClr val="F59E0B"/>
                </a:solidFill>
                <a:latin typeface="Arial Black" pitchFamily="34" charset="0"/>
                <a:ea typeface="Arial Black" pitchFamily="34" charset="-122"/>
                <a:cs typeface="Arial Black" pitchFamily="34" charset="-120"/>
              </a:rPr>
              <a:t>1.5T ¥  市场规模 (2025年)</a:t>
            </a:r>
            <a:endParaRPr lang="en-US" sz="1400" dirty="0"/>
          </a:p>
        </p:txBody>
      </p:sp>
      <p:sp>
        <p:nvSpPr>
          <p:cNvPr id="14" name="Text 12"/>
          <p:cNvSpPr/>
          <p:nvPr/>
        </p:nvSpPr>
        <p:spPr>
          <a:xfrm>
            <a:off x="457200" y="1554480"/>
            <a:ext cx="393192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THE SIGNAL</a:t>
            </a:r>
            <a:endParaRPr lang="en-US" sz="800" dirty="0"/>
          </a:p>
        </p:txBody>
      </p:sp>
      <p:sp>
        <p:nvSpPr>
          <p:cNvPr id="15" name="Text 13"/>
          <p:cNvSpPr/>
          <p:nvPr/>
        </p:nvSpPr>
        <p:spPr>
          <a:xfrm>
            <a:off x="4663440" y="1554480"/>
            <a:ext cx="402336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信号</a:t>
            </a:r>
            <a:endParaRPr lang="en-US" sz="800" dirty="0"/>
          </a:p>
        </p:txBody>
      </p:sp>
      <p:sp>
        <p:nvSpPr>
          <p:cNvPr id="16" name="Text 14"/>
          <p:cNvSpPr/>
          <p:nvPr/>
        </p:nvSpPr>
        <p:spPr>
          <a:xfrm>
            <a:off x="457200" y="175564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China's low-altitude economy reached 1.5 trillion yuan with 100,000+ enterprises; EHang holds the first passenger eVTOL airworthiness certificate; Shenzhen plans 1,200+ landing pads by year-end.</a:t>
            </a:r>
            <a:endParaRPr lang="en-US" sz="1000" dirty="0"/>
          </a:p>
        </p:txBody>
      </p:sp>
      <p:sp>
        <p:nvSpPr>
          <p:cNvPr id="17" name="Text 15"/>
          <p:cNvSpPr/>
          <p:nvPr/>
        </p:nvSpPr>
        <p:spPr>
          <a:xfrm>
            <a:off x="4663440" y="175564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中国低空经济规模达1.5万亿元，企业超10万家；亿航获全国首张载人eVTOL适航证；深圳计划年底建成1200+起降点。</a:t>
            </a:r>
            <a:endParaRPr lang="en-US" sz="1000" dirty="0"/>
          </a:p>
        </p:txBody>
      </p:sp>
      <p:sp>
        <p:nvSpPr>
          <p:cNvPr id="18" name="Text 16"/>
          <p:cNvSpPr/>
          <p:nvPr/>
        </p:nvSpPr>
        <p:spPr>
          <a:xfrm>
            <a:off x="457200" y="2331720"/>
            <a:ext cx="393192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CHINA SCALE</a:t>
            </a:r>
            <a:endParaRPr lang="en-US" sz="800" dirty="0"/>
          </a:p>
        </p:txBody>
      </p:sp>
      <p:sp>
        <p:nvSpPr>
          <p:cNvPr id="19" name="Text 17"/>
          <p:cNvSpPr/>
          <p:nvPr/>
        </p:nvSpPr>
        <p:spPr>
          <a:xfrm>
            <a:off x="4663440" y="2331720"/>
            <a:ext cx="402336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中国规模</a:t>
            </a:r>
            <a:endParaRPr lang="en-US" sz="800" dirty="0"/>
          </a:p>
        </p:txBody>
      </p:sp>
      <p:sp>
        <p:nvSpPr>
          <p:cNvPr id="20" name="Text 18"/>
          <p:cNvSpPr/>
          <p:nvPr/>
        </p:nvSpPr>
        <p:spPr>
          <a:xfrm>
            <a:off x="457200" y="253288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Low-altitude economy written into the 15th Five-Year Plan; five ministries mandate 90%+ ground comms coverage for air routes by 2027; 17.9 million patents filed.</a:t>
            </a:r>
            <a:endParaRPr lang="en-US" sz="1000" dirty="0"/>
          </a:p>
        </p:txBody>
      </p:sp>
      <p:sp>
        <p:nvSpPr>
          <p:cNvPr id="21" name="Text 19"/>
          <p:cNvSpPr/>
          <p:nvPr/>
        </p:nvSpPr>
        <p:spPr>
          <a:xfrm>
            <a:off x="4663440" y="253288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低空经济纳入十五五规划战略产业；五部委要求2027年前航路地面通信覆盖率达90%以上；累计专利申请1790万件。</a:t>
            </a:r>
            <a:endParaRPr lang="en-US" sz="1000" dirty="0"/>
          </a:p>
        </p:txBody>
      </p:sp>
      <p:sp>
        <p:nvSpPr>
          <p:cNvPr id="22" name="Text 20"/>
          <p:cNvSpPr/>
          <p:nvPr/>
        </p:nvSpPr>
        <p:spPr>
          <a:xfrm>
            <a:off x="457200" y="3108960"/>
            <a:ext cx="3931920" cy="182880"/>
          </a:xfrm>
          <a:prstGeom prst="rect">
            <a:avLst/>
          </a:prstGeom>
          <a:noFill/>
          <a:ln/>
        </p:spPr>
        <p:txBody>
          <a:bodyPr wrap="square" lIns="0" tIns="0" rIns="0" bIns="0" rtlCol="0" anchor="ctr"/>
          <a:lstStyle/>
          <a:p>
            <a:pPr indent="0" marL="0">
              <a:buNone/>
            </a:pPr>
            <a:r>
              <a:rPr lang="en-US" sz="800" b="1" dirty="0">
                <a:solidFill>
                  <a:srgbClr val="0D9488"/>
                </a:solidFill>
                <a:latin typeface="Calibri" pitchFamily="34" charset="0"/>
                <a:ea typeface="Calibri" pitchFamily="34" charset="-122"/>
                <a:cs typeface="Calibri" pitchFamily="34" charset="-120"/>
              </a:rPr>
              <a:t>GLOBAL IMPACT</a:t>
            </a:r>
            <a:endParaRPr lang="en-US" sz="800" dirty="0"/>
          </a:p>
        </p:txBody>
      </p:sp>
      <p:sp>
        <p:nvSpPr>
          <p:cNvPr id="23" name="Text 21"/>
          <p:cNvSpPr/>
          <p:nvPr/>
        </p:nvSpPr>
        <p:spPr>
          <a:xfrm>
            <a:off x="4663440" y="3108960"/>
            <a:ext cx="4023360" cy="182880"/>
          </a:xfrm>
          <a:prstGeom prst="rect">
            <a:avLst/>
          </a:prstGeom>
          <a:noFill/>
          <a:ln/>
        </p:spPr>
        <p:txBody>
          <a:bodyPr wrap="square" lIns="0" tIns="0" rIns="0" bIns="0" rtlCol="0" anchor="ctr"/>
          <a:lstStyle/>
          <a:p>
            <a:pPr indent="0" marL="0">
              <a:buNone/>
            </a:pPr>
            <a:r>
              <a:rPr lang="en-US" sz="800" b="1" dirty="0">
                <a:solidFill>
                  <a:srgbClr val="0D9488"/>
                </a:solidFill>
                <a:latin typeface="Calibri" pitchFamily="34" charset="0"/>
                <a:ea typeface="Calibri" pitchFamily="34" charset="-122"/>
                <a:cs typeface="Calibri" pitchFamily="34" charset="-120"/>
              </a:rPr>
              <a:t>全球影响</a:t>
            </a:r>
            <a:endParaRPr lang="en-US" sz="800" dirty="0"/>
          </a:p>
        </p:txBody>
      </p:sp>
      <p:sp>
        <p:nvSpPr>
          <p:cNvPr id="24" name="Text 22"/>
          <p:cNvSpPr/>
          <p:nvPr/>
        </p:nvSpPr>
        <p:spPr>
          <a:xfrm>
            <a:off x="457200" y="331012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While Joby and Archer remain pre-commercial, EHang is deploying 100+ aircraft across 20 zones in Thailand by end of 2026.</a:t>
            </a:r>
            <a:endParaRPr lang="en-US" sz="1000" dirty="0"/>
          </a:p>
        </p:txBody>
      </p:sp>
      <p:sp>
        <p:nvSpPr>
          <p:cNvPr id="25" name="Text 23"/>
          <p:cNvSpPr/>
          <p:nvPr/>
        </p:nvSpPr>
        <p:spPr>
          <a:xfrm>
            <a:off x="4663440" y="331012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Joby和Archer仍处于商业化前阶段，亿航已在泰国20个沙盒区域部署100+架飞行器。</a:t>
            </a:r>
            <a:endParaRPr lang="en-US" sz="1000" dirty="0"/>
          </a:p>
        </p:txBody>
      </p:sp>
      <p:sp>
        <p:nvSpPr>
          <p:cNvPr id="26" name="Text 24"/>
          <p:cNvSpPr/>
          <p:nvPr/>
        </p:nvSpPr>
        <p:spPr>
          <a:xfrm>
            <a:off x="457200" y="3886200"/>
            <a:ext cx="3931920" cy="182880"/>
          </a:xfrm>
          <a:prstGeom prst="rect">
            <a:avLst/>
          </a:prstGeom>
          <a:noFill/>
          <a:ln/>
        </p:spPr>
        <p:txBody>
          <a:bodyPr wrap="square" lIns="0" tIns="0" rIns="0" bIns="0" rtlCol="0" anchor="ctr"/>
          <a:lstStyle/>
          <a:p>
            <a:pPr indent="0" marL="0">
              <a:buNone/>
            </a:pPr>
            <a:r>
              <a:rPr lang="en-US" sz="800" b="1" dirty="0">
                <a:solidFill>
                  <a:srgbClr val="F59E0B"/>
                </a:solidFill>
                <a:latin typeface="Calibri" pitchFamily="34" charset="0"/>
                <a:ea typeface="Calibri" pitchFamily="34" charset="-122"/>
                <a:cs typeface="Calibri" pitchFamily="34" charset="-120"/>
              </a:rPr>
              <a:t>MONDAY MORNING</a:t>
            </a:r>
            <a:endParaRPr lang="en-US" sz="800" dirty="0"/>
          </a:p>
        </p:txBody>
      </p:sp>
      <p:sp>
        <p:nvSpPr>
          <p:cNvPr id="27" name="Text 25"/>
          <p:cNvSpPr/>
          <p:nvPr/>
        </p:nvSpPr>
        <p:spPr>
          <a:xfrm>
            <a:off x="4663440" y="3886200"/>
            <a:ext cx="4023360" cy="182880"/>
          </a:xfrm>
          <a:prstGeom prst="rect">
            <a:avLst/>
          </a:prstGeom>
          <a:noFill/>
          <a:ln/>
        </p:spPr>
        <p:txBody>
          <a:bodyPr wrap="square" lIns="0" tIns="0" rIns="0" bIns="0" rtlCol="0" anchor="ctr"/>
          <a:lstStyle/>
          <a:p>
            <a:pPr indent="0" marL="0">
              <a:buNone/>
            </a:pPr>
            <a:r>
              <a:rPr lang="en-US" sz="800" b="1" dirty="0">
                <a:solidFill>
                  <a:srgbClr val="F59E0B"/>
                </a:solidFill>
                <a:latin typeface="Calibri" pitchFamily="34" charset="0"/>
                <a:ea typeface="Calibri" pitchFamily="34" charset="-122"/>
                <a:cs typeface="Calibri" pitchFamily="34" charset="-120"/>
              </a:rPr>
              <a:t>周一行动</a:t>
            </a:r>
            <a:endParaRPr lang="en-US" sz="800" dirty="0"/>
          </a:p>
        </p:txBody>
      </p:sp>
      <p:sp>
        <p:nvSpPr>
          <p:cNvPr id="28" name="Text 26"/>
          <p:cNvSpPr/>
          <p:nvPr/>
        </p:nvSpPr>
        <p:spPr>
          <a:xfrm>
            <a:off x="457200" y="408736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Study Shenzhen's 1,200-pad buildout as a template; track China's 17.9M patent filings for standards-setting leverage.</a:t>
            </a:r>
            <a:endParaRPr lang="en-US" sz="1000" dirty="0"/>
          </a:p>
        </p:txBody>
      </p:sp>
      <p:sp>
        <p:nvSpPr>
          <p:cNvPr id="29" name="Text 27"/>
          <p:cNvSpPr/>
          <p:nvPr/>
        </p:nvSpPr>
        <p:spPr>
          <a:xfrm>
            <a:off x="4663440" y="408736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研究深圳1200个起降点建设模式；关注1790万专利申请对标准制定的杠杆效应。</a:t>
            </a:r>
            <a:endParaRPr lang="en-US" sz="1000" dirty="0"/>
          </a:p>
        </p:txBody>
      </p:sp>
      <p:sp>
        <p:nvSpPr>
          <p:cNvPr id="30" name="Text 28"/>
          <p:cNvSpPr/>
          <p:nvPr/>
        </p:nvSpPr>
        <p:spPr>
          <a:xfrm>
            <a:off x="457200" y="4800600"/>
            <a:ext cx="8229600" cy="164592"/>
          </a:xfrm>
          <a:prstGeom prst="rect">
            <a:avLst/>
          </a:prstGeom>
          <a:noFill/>
          <a:ln/>
        </p:spPr>
        <p:txBody>
          <a:bodyPr wrap="square" lIns="0" tIns="0" rIns="0" bIns="0" rtlCol="0" anchor="ctr"/>
          <a:lstStyle/>
          <a:p>
            <a:pPr indent="0" marL="0">
              <a:buNone/>
            </a:pPr>
            <a:r>
              <a:rPr lang="en-US" sz="700" dirty="0">
                <a:solidFill>
                  <a:srgbClr val="94A3B8"/>
                </a:solidFill>
                <a:latin typeface="Calibri" pitchFamily="34" charset="0"/>
                <a:ea typeface="Calibri" pitchFamily="34" charset="-122"/>
                <a:cs typeface="Calibri" pitchFamily="34" charset="-120"/>
              </a:rPr>
              <a:t>Source: 澎湃新闻 (The Paper)</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DC2626"/>
          </a:solidFill>
          <a:ln/>
        </p:spPr>
      </p:sp>
      <p:sp>
        <p:nvSpPr>
          <p:cNvPr id="3" name="Shape 1"/>
          <p:cNvSpPr/>
          <p:nvPr/>
        </p:nvSpPr>
        <p:spPr>
          <a:xfrm>
            <a:off x="457200" y="182880"/>
            <a:ext cx="365760" cy="365760"/>
          </a:xfrm>
          <a:prstGeom prst="rect">
            <a:avLst/>
          </a:prstGeom>
          <a:solidFill>
            <a:srgbClr val="DC2626"/>
          </a:solidFill>
          <a:ln/>
        </p:spPr>
      </p:sp>
      <p:sp>
        <p:nvSpPr>
          <p:cNvPr id="4" name="Text 2"/>
          <p:cNvSpPr/>
          <p:nvPr/>
        </p:nvSpPr>
        <p:spPr>
          <a:xfrm>
            <a:off x="457200" y="182880"/>
            <a:ext cx="3657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rial Black" pitchFamily="34" charset="0"/>
                <a:ea typeface="Arial Black" pitchFamily="34" charset="-122"/>
                <a:cs typeface="Arial Black" pitchFamily="34" charset="-120"/>
              </a:rPr>
              <a:t>02</a:t>
            </a:r>
            <a:endParaRPr lang="en-US" sz="1600" dirty="0"/>
          </a:p>
        </p:txBody>
      </p:sp>
      <p:sp>
        <p:nvSpPr>
          <p:cNvPr id="5" name="Text 3"/>
          <p:cNvSpPr/>
          <p:nvPr/>
        </p:nvSpPr>
        <p:spPr>
          <a:xfrm>
            <a:off x="7498080" y="201168"/>
            <a:ext cx="1188720" cy="292608"/>
          </a:xfrm>
          <a:prstGeom prst="rect">
            <a:avLst/>
          </a:prstGeom>
          <a:solidFill>
            <a:srgbClr val="DC2626"/>
          </a:solid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STRONG</a:t>
            </a:r>
            <a:endParaRPr lang="en-US" sz="900" dirty="0"/>
          </a:p>
        </p:txBody>
      </p:sp>
      <p:sp>
        <p:nvSpPr>
          <p:cNvPr id="6" name="Text 4"/>
          <p:cNvSpPr/>
          <p:nvPr/>
        </p:nvSpPr>
        <p:spPr>
          <a:xfrm>
            <a:off x="960120" y="164592"/>
            <a:ext cx="3474720" cy="411480"/>
          </a:xfrm>
          <a:prstGeom prst="rect">
            <a:avLst/>
          </a:prstGeom>
          <a:noFill/>
          <a:ln/>
        </p:spPr>
        <p:txBody>
          <a:bodyPr wrap="square" lIns="0" tIns="0" rIns="0" bIns="0" rtlCol="0" anchor="ctr"/>
          <a:lstStyle/>
          <a:p>
            <a:pPr indent="0" marL="0">
              <a:buNone/>
            </a:pPr>
            <a:r>
              <a:rPr lang="en-US" sz="1300" b="1" dirty="0">
                <a:solidFill>
                  <a:srgbClr val="1A2332"/>
                </a:solidFill>
                <a:latin typeface="Calibri" pitchFamily="34" charset="0"/>
                <a:ea typeface="Calibri" pitchFamily="34" charset="-122"/>
                <a:cs typeface="Calibri" pitchFamily="34" charset="-120"/>
              </a:rPr>
              <a:t>Robotaxi Reaches Per-Vehicle Profitability in Two Cities</a:t>
            </a:r>
            <a:endParaRPr lang="en-US" sz="1300" dirty="0"/>
          </a:p>
        </p:txBody>
      </p:sp>
      <p:sp>
        <p:nvSpPr>
          <p:cNvPr id="7" name="Text 5"/>
          <p:cNvSpPr/>
          <p:nvPr/>
        </p:nvSpPr>
        <p:spPr>
          <a:xfrm>
            <a:off x="4663440" y="164592"/>
            <a:ext cx="2743200" cy="411480"/>
          </a:xfrm>
          <a:prstGeom prst="rect">
            <a:avLst/>
          </a:prstGeom>
          <a:noFill/>
          <a:ln/>
        </p:spPr>
        <p:txBody>
          <a:bodyPr wrap="square" lIns="0" tIns="0" rIns="0" bIns="0" rtlCol="0" anchor="ctr"/>
          <a:lstStyle/>
          <a:p>
            <a:pPr indent="0" marL="0">
              <a:buNone/>
            </a:pPr>
            <a:r>
              <a:rPr lang="en-US" sz="1200" dirty="0">
                <a:solidFill>
                  <a:srgbClr val="334155"/>
                </a:solidFill>
                <a:latin typeface="Arial" pitchFamily="34" charset="0"/>
                <a:ea typeface="Arial" pitchFamily="34" charset="-122"/>
                <a:cs typeface="Arial" pitchFamily="34" charset="-120"/>
              </a:rPr>
              <a:t>Robotaxi在两座城市实现单车盈利</a:t>
            </a:r>
            <a:endParaRPr lang="en-US" sz="1200" dirty="0"/>
          </a:p>
        </p:txBody>
      </p:sp>
      <p:sp>
        <p:nvSpPr>
          <p:cNvPr id="8" name="Shape 6"/>
          <p:cNvSpPr/>
          <p:nvPr/>
        </p:nvSpPr>
        <p:spPr>
          <a:xfrm>
            <a:off x="4526280" y="685800"/>
            <a:ext cx="0" cy="4114800"/>
          </a:xfrm>
          <a:prstGeom prst="line">
            <a:avLst/>
          </a:prstGeom>
          <a:noFill/>
          <a:ln w="12700">
            <a:solidFill>
              <a:srgbClr val="CBD5E1"/>
            </a:solidFill>
            <a:prstDash val="solid"/>
          </a:ln>
        </p:spPr>
      </p:sp>
      <p:sp>
        <p:nvSpPr>
          <p:cNvPr id="9" name="Text 7"/>
          <p:cNvSpPr/>
          <p:nvPr/>
        </p:nvSpPr>
        <p:spPr>
          <a:xfrm>
            <a:off x="457200" y="640080"/>
            <a:ext cx="3931920" cy="22860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ENGLISH</a:t>
            </a:r>
            <a:endParaRPr lang="en-US" sz="800" dirty="0"/>
          </a:p>
        </p:txBody>
      </p:sp>
      <p:sp>
        <p:nvSpPr>
          <p:cNvPr id="10" name="Text 8"/>
          <p:cNvSpPr/>
          <p:nvPr/>
        </p:nvSpPr>
        <p:spPr>
          <a:xfrm>
            <a:off x="4663440" y="640080"/>
            <a:ext cx="4023360" cy="22860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中文</a:t>
            </a:r>
            <a:endParaRPr lang="en-US" sz="800" dirty="0"/>
          </a:p>
        </p:txBody>
      </p:sp>
      <p:sp>
        <p:nvSpPr>
          <p:cNvPr id="11" name="Shape 9"/>
          <p:cNvSpPr/>
          <p:nvPr/>
        </p:nvSpPr>
        <p:spPr>
          <a:xfrm>
            <a:off x="457200" y="914400"/>
            <a:ext cx="8229600" cy="502920"/>
          </a:xfrm>
          <a:prstGeom prst="rect">
            <a:avLst/>
          </a:prstGeom>
          <a:solidFill>
            <a:srgbClr val="0F1722"/>
          </a:solidFill>
          <a:ln/>
          <a:effectLst>
            <a:outerShdw sx="100000" sy="100000" kx="0" ky="0" algn="bl" rotWithShape="0" blurRad="76200" dist="25400" dir="8100000">
              <a:srgbClr val="000000">
                <a:alpha val="10000"/>
              </a:srgbClr>
            </a:outerShdw>
          </a:effectLst>
        </p:spPr>
      </p:sp>
      <p:sp>
        <p:nvSpPr>
          <p:cNvPr id="12" name="Text 10"/>
          <p:cNvSpPr/>
          <p:nvPr/>
        </p:nvSpPr>
        <p:spPr>
          <a:xfrm>
            <a:off x="640080" y="914400"/>
            <a:ext cx="3749040" cy="502920"/>
          </a:xfrm>
          <a:prstGeom prst="rect">
            <a:avLst/>
          </a:prstGeom>
          <a:noFill/>
          <a:ln/>
        </p:spPr>
        <p:txBody>
          <a:bodyPr wrap="square" lIns="0" tIns="0" rIns="0" bIns="0" rtlCol="0" anchor="ctr"/>
          <a:lstStyle/>
          <a:p>
            <a:pPr indent="0" marL="0">
              <a:buNone/>
            </a:pPr>
            <a:r>
              <a:rPr lang="en-US" sz="1400" dirty="0">
                <a:solidFill>
                  <a:srgbClr val="F59E0B"/>
                </a:solidFill>
                <a:latin typeface="Arial Black" pitchFamily="34" charset="0"/>
                <a:ea typeface="Arial Black" pitchFamily="34" charset="-122"/>
                <a:cs typeface="Arial Black" pitchFamily="34" charset="-120"/>
              </a:rPr>
              <a:t>¥338/day  net revenue per vehicle</a:t>
            </a:r>
            <a:endParaRPr lang="en-US" sz="1400" dirty="0"/>
          </a:p>
        </p:txBody>
      </p:sp>
      <p:sp>
        <p:nvSpPr>
          <p:cNvPr id="13" name="Text 11"/>
          <p:cNvSpPr/>
          <p:nvPr/>
        </p:nvSpPr>
        <p:spPr>
          <a:xfrm>
            <a:off x="4754880" y="914400"/>
            <a:ext cx="3749040" cy="502920"/>
          </a:xfrm>
          <a:prstGeom prst="rect">
            <a:avLst/>
          </a:prstGeom>
          <a:noFill/>
          <a:ln/>
        </p:spPr>
        <p:txBody>
          <a:bodyPr wrap="square" lIns="0" tIns="0" rIns="0" bIns="0" rtlCol="0" anchor="ctr"/>
          <a:lstStyle/>
          <a:p>
            <a:pPr indent="0" marL="0">
              <a:buNone/>
            </a:pPr>
            <a:r>
              <a:rPr lang="en-US" sz="1400" dirty="0">
                <a:solidFill>
                  <a:srgbClr val="F59E0B"/>
                </a:solidFill>
                <a:latin typeface="Arial Black" pitchFamily="34" charset="0"/>
                <a:ea typeface="Arial Black" pitchFamily="34" charset="-122"/>
                <a:cs typeface="Arial Black" pitchFamily="34" charset="-120"/>
              </a:rPr>
              <a:t>¥338/day  单车日净收入（深圳）</a:t>
            </a:r>
            <a:endParaRPr lang="en-US" sz="1400" dirty="0"/>
          </a:p>
        </p:txBody>
      </p:sp>
      <p:sp>
        <p:nvSpPr>
          <p:cNvPr id="14" name="Text 12"/>
          <p:cNvSpPr/>
          <p:nvPr/>
        </p:nvSpPr>
        <p:spPr>
          <a:xfrm>
            <a:off x="457200" y="1554480"/>
            <a:ext cx="393192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THE SIGNAL</a:t>
            </a:r>
            <a:endParaRPr lang="en-US" sz="800" dirty="0"/>
          </a:p>
        </p:txBody>
      </p:sp>
      <p:sp>
        <p:nvSpPr>
          <p:cNvPr id="15" name="Text 13"/>
          <p:cNvSpPr/>
          <p:nvPr/>
        </p:nvSpPr>
        <p:spPr>
          <a:xfrm>
            <a:off x="4663440" y="1554480"/>
            <a:ext cx="402336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信号</a:t>
            </a:r>
            <a:endParaRPr lang="en-US" sz="800" dirty="0"/>
          </a:p>
        </p:txBody>
      </p:sp>
      <p:sp>
        <p:nvSpPr>
          <p:cNvPr id="16" name="Text 14"/>
          <p:cNvSpPr/>
          <p:nvPr/>
        </p:nvSpPr>
        <p:spPr>
          <a:xfrm>
            <a:off x="457200" y="175564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Pony.ai achieved per-vehicle profit in Shenzhen (Feb 2026) and Guangzhou (Nov 2025); hardware costs down 70%; fleet targeting 3,000+ vehicles by year-end.</a:t>
            </a:r>
            <a:endParaRPr lang="en-US" sz="1000" dirty="0"/>
          </a:p>
        </p:txBody>
      </p:sp>
      <p:sp>
        <p:nvSpPr>
          <p:cNvPr id="17" name="Text 15"/>
          <p:cNvSpPr/>
          <p:nvPr/>
        </p:nvSpPr>
        <p:spPr>
          <a:xfrm>
            <a:off x="4663440" y="175564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小马智行在深圳（2026年2月）和广州（2025年11月）实现单车盈利；硬件成本下降70%；车队年底目标突破3000辆。</a:t>
            </a:r>
            <a:endParaRPr lang="en-US" sz="1000" dirty="0"/>
          </a:p>
        </p:txBody>
      </p:sp>
      <p:sp>
        <p:nvSpPr>
          <p:cNvPr id="18" name="Text 16"/>
          <p:cNvSpPr/>
          <p:nvPr/>
        </p:nvSpPr>
        <p:spPr>
          <a:xfrm>
            <a:off x="457200" y="2331720"/>
            <a:ext cx="393192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CHINA SCALE</a:t>
            </a:r>
            <a:endParaRPr lang="en-US" sz="800" dirty="0"/>
          </a:p>
        </p:txBody>
      </p:sp>
      <p:sp>
        <p:nvSpPr>
          <p:cNvPr id="19" name="Text 17"/>
          <p:cNvSpPr/>
          <p:nvPr/>
        </p:nvSpPr>
        <p:spPr>
          <a:xfrm>
            <a:off x="4663440" y="2331720"/>
            <a:ext cx="402336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中国规模</a:t>
            </a:r>
            <a:endParaRPr lang="en-US" sz="800" dirty="0"/>
          </a:p>
        </p:txBody>
      </p:sp>
      <p:sp>
        <p:nvSpPr>
          <p:cNvPr id="20" name="Text 18"/>
          <p:cNvSpPr/>
          <p:nvPr/>
        </p:nvSpPr>
        <p:spPr>
          <a:xfrm>
            <a:off x="457200" y="253288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Three operators each run 1,000+ vehicle fleets past the commercial-scale threshold; Shenzhen's 23 daily orders per vehicle proves unit economics.</a:t>
            </a:r>
            <a:endParaRPr lang="en-US" sz="1000" dirty="0"/>
          </a:p>
        </p:txBody>
      </p:sp>
      <p:sp>
        <p:nvSpPr>
          <p:cNvPr id="21" name="Text 19"/>
          <p:cNvSpPr/>
          <p:nvPr/>
        </p:nvSpPr>
        <p:spPr>
          <a:xfrm>
            <a:off x="4663440" y="253288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三家运营商车队均超1000辆，突破商业化规模门槛；深圳单车日均23单验证了单位经济模型。</a:t>
            </a:r>
            <a:endParaRPr lang="en-US" sz="1000" dirty="0"/>
          </a:p>
        </p:txBody>
      </p:sp>
      <p:sp>
        <p:nvSpPr>
          <p:cNvPr id="22" name="Text 20"/>
          <p:cNvSpPr/>
          <p:nvPr/>
        </p:nvSpPr>
        <p:spPr>
          <a:xfrm>
            <a:off x="457200" y="3108960"/>
            <a:ext cx="3931920" cy="182880"/>
          </a:xfrm>
          <a:prstGeom prst="rect">
            <a:avLst/>
          </a:prstGeom>
          <a:noFill/>
          <a:ln/>
        </p:spPr>
        <p:txBody>
          <a:bodyPr wrap="square" lIns="0" tIns="0" rIns="0" bIns="0" rtlCol="0" anchor="ctr"/>
          <a:lstStyle/>
          <a:p>
            <a:pPr indent="0" marL="0">
              <a:buNone/>
            </a:pPr>
            <a:r>
              <a:rPr lang="en-US" sz="800" b="1" dirty="0">
                <a:solidFill>
                  <a:srgbClr val="0D9488"/>
                </a:solidFill>
                <a:latin typeface="Calibri" pitchFamily="34" charset="0"/>
                <a:ea typeface="Calibri" pitchFamily="34" charset="-122"/>
                <a:cs typeface="Calibri" pitchFamily="34" charset="-120"/>
              </a:rPr>
              <a:t>GLOBAL IMPACT</a:t>
            </a:r>
            <a:endParaRPr lang="en-US" sz="800" dirty="0"/>
          </a:p>
        </p:txBody>
      </p:sp>
      <p:sp>
        <p:nvSpPr>
          <p:cNvPr id="23" name="Text 21"/>
          <p:cNvSpPr/>
          <p:nvPr/>
        </p:nvSpPr>
        <p:spPr>
          <a:xfrm>
            <a:off x="4663440" y="3108960"/>
            <a:ext cx="4023360" cy="182880"/>
          </a:xfrm>
          <a:prstGeom prst="rect">
            <a:avLst/>
          </a:prstGeom>
          <a:noFill/>
          <a:ln/>
        </p:spPr>
        <p:txBody>
          <a:bodyPr wrap="square" lIns="0" tIns="0" rIns="0" bIns="0" rtlCol="0" anchor="ctr"/>
          <a:lstStyle/>
          <a:p>
            <a:pPr indent="0" marL="0">
              <a:buNone/>
            </a:pPr>
            <a:r>
              <a:rPr lang="en-US" sz="800" b="1" dirty="0">
                <a:solidFill>
                  <a:srgbClr val="0D9488"/>
                </a:solidFill>
                <a:latin typeface="Calibri" pitchFamily="34" charset="0"/>
                <a:ea typeface="Calibri" pitchFamily="34" charset="-122"/>
                <a:cs typeface="Calibri" pitchFamily="34" charset="-120"/>
              </a:rPr>
              <a:t>全球影响</a:t>
            </a:r>
            <a:endParaRPr lang="en-US" sz="800" dirty="0"/>
          </a:p>
        </p:txBody>
      </p:sp>
      <p:sp>
        <p:nvSpPr>
          <p:cNvPr id="24" name="Text 22"/>
          <p:cNvSpPr/>
          <p:nvPr/>
        </p:nvSpPr>
        <p:spPr>
          <a:xfrm>
            <a:off x="457200" y="331012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Chinese operators prove viability 2-3 years ahead of Western competitors; WeRide projects profitability in Abu Dhabi by Q1 2026.</a:t>
            </a:r>
            <a:endParaRPr lang="en-US" sz="1000" dirty="0"/>
          </a:p>
        </p:txBody>
      </p:sp>
      <p:sp>
        <p:nvSpPr>
          <p:cNvPr id="25" name="Text 23"/>
          <p:cNvSpPr/>
          <p:nvPr/>
        </p:nvSpPr>
        <p:spPr>
          <a:xfrm>
            <a:off x="4663440" y="331012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中国运营商比西方竞争对手领先2至3年验证商业可行性；文远知行预计2026年一季度在阿布扎比实现盈利。</a:t>
            </a:r>
            <a:endParaRPr lang="en-US" sz="1000" dirty="0"/>
          </a:p>
        </p:txBody>
      </p:sp>
      <p:sp>
        <p:nvSpPr>
          <p:cNvPr id="26" name="Text 24"/>
          <p:cNvSpPr/>
          <p:nvPr/>
        </p:nvSpPr>
        <p:spPr>
          <a:xfrm>
            <a:off x="457200" y="3886200"/>
            <a:ext cx="3931920" cy="182880"/>
          </a:xfrm>
          <a:prstGeom prst="rect">
            <a:avLst/>
          </a:prstGeom>
          <a:noFill/>
          <a:ln/>
        </p:spPr>
        <p:txBody>
          <a:bodyPr wrap="square" lIns="0" tIns="0" rIns="0" bIns="0" rtlCol="0" anchor="ctr"/>
          <a:lstStyle/>
          <a:p>
            <a:pPr indent="0" marL="0">
              <a:buNone/>
            </a:pPr>
            <a:r>
              <a:rPr lang="en-US" sz="800" b="1" dirty="0">
                <a:solidFill>
                  <a:srgbClr val="F59E0B"/>
                </a:solidFill>
                <a:latin typeface="Calibri" pitchFamily="34" charset="0"/>
                <a:ea typeface="Calibri" pitchFamily="34" charset="-122"/>
                <a:cs typeface="Calibri" pitchFamily="34" charset="-120"/>
              </a:rPr>
              <a:t>MONDAY MORNING</a:t>
            </a:r>
            <a:endParaRPr lang="en-US" sz="800" dirty="0"/>
          </a:p>
        </p:txBody>
      </p:sp>
      <p:sp>
        <p:nvSpPr>
          <p:cNvPr id="27" name="Text 25"/>
          <p:cNvSpPr/>
          <p:nvPr/>
        </p:nvSpPr>
        <p:spPr>
          <a:xfrm>
            <a:off x="4663440" y="3886200"/>
            <a:ext cx="4023360" cy="182880"/>
          </a:xfrm>
          <a:prstGeom prst="rect">
            <a:avLst/>
          </a:prstGeom>
          <a:noFill/>
          <a:ln/>
        </p:spPr>
        <p:txBody>
          <a:bodyPr wrap="square" lIns="0" tIns="0" rIns="0" bIns="0" rtlCol="0" anchor="ctr"/>
          <a:lstStyle/>
          <a:p>
            <a:pPr indent="0" marL="0">
              <a:buNone/>
            </a:pPr>
            <a:r>
              <a:rPr lang="en-US" sz="800" b="1" dirty="0">
                <a:solidFill>
                  <a:srgbClr val="F59E0B"/>
                </a:solidFill>
                <a:latin typeface="Calibri" pitchFamily="34" charset="0"/>
                <a:ea typeface="Calibri" pitchFamily="34" charset="-122"/>
                <a:cs typeface="Calibri" pitchFamily="34" charset="-120"/>
              </a:rPr>
              <a:t>周一行动</a:t>
            </a:r>
            <a:endParaRPr lang="en-US" sz="800" dirty="0"/>
          </a:p>
        </p:txBody>
      </p:sp>
      <p:sp>
        <p:nvSpPr>
          <p:cNvPr id="28" name="Text 26"/>
          <p:cNvSpPr/>
          <p:nvPr/>
        </p:nvSpPr>
        <p:spPr>
          <a:xfrm>
            <a:off x="457200" y="408736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Model Pony.ai's 338 yuan/day economics against your fleet cost structure and competitive position.</a:t>
            </a:r>
            <a:endParaRPr lang="en-US" sz="1000" dirty="0"/>
          </a:p>
        </p:txBody>
      </p:sp>
      <p:sp>
        <p:nvSpPr>
          <p:cNvPr id="29" name="Text 27"/>
          <p:cNvSpPr/>
          <p:nvPr/>
        </p:nvSpPr>
        <p:spPr>
          <a:xfrm>
            <a:off x="4663440" y="408736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将小马智行338元/日的经济模型与自身车队成本结构进行对标。</a:t>
            </a:r>
            <a:endParaRPr lang="en-US" sz="1000" dirty="0"/>
          </a:p>
        </p:txBody>
      </p:sp>
      <p:sp>
        <p:nvSpPr>
          <p:cNvPr id="30" name="Text 28"/>
          <p:cNvSpPr/>
          <p:nvPr/>
        </p:nvSpPr>
        <p:spPr>
          <a:xfrm>
            <a:off x="457200" y="4800600"/>
            <a:ext cx="8229600" cy="164592"/>
          </a:xfrm>
          <a:prstGeom prst="rect">
            <a:avLst/>
          </a:prstGeom>
          <a:noFill/>
          <a:ln/>
        </p:spPr>
        <p:txBody>
          <a:bodyPr wrap="square" lIns="0" tIns="0" rIns="0" bIns="0" rtlCol="0" anchor="ctr"/>
          <a:lstStyle/>
          <a:p>
            <a:pPr indent="0" marL="0">
              <a:buNone/>
            </a:pPr>
            <a:r>
              <a:rPr lang="en-US" sz="700" dirty="0">
                <a:solidFill>
                  <a:srgbClr val="94A3B8"/>
                </a:solidFill>
                <a:latin typeface="Calibri" pitchFamily="34" charset="0"/>
                <a:ea typeface="Calibri" pitchFamily="34" charset="-122"/>
                <a:cs typeface="Calibri" pitchFamily="34" charset="-120"/>
              </a:rPr>
              <a:t>Source: 证券时报 (Securities Times)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DC2626"/>
          </a:solidFill>
          <a:ln/>
        </p:spPr>
      </p:sp>
      <p:sp>
        <p:nvSpPr>
          <p:cNvPr id="3" name="Shape 1"/>
          <p:cNvSpPr/>
          <p:nvPr/>
        </p:nvSpPr>
        <p:spPr>
          <a:xfrm>
            <a:off x="457200" y="182880"/>
            <a:ext cx="365760" cy="365760"/>
          </a:xfrm>
          <a:prstGeom prst="rect">
            <a:avLst/>
          </a:prstGeom>
          <a:solidFill>
            <a:srgbClr val="DC2626"/>
          </a:solidFill>
          <a:ln/>
        </p:spPr>
      </p:sp>
      <p:sp>
        <p:nvSpPr>
          <p:cNvPr id="4" name="Text 2"/>
          <p:cNvSpPr/>
          <p:nvPr/>
        </p:nvSpPr>
        <p:spPr>
          <a:xfrm>
            <a:off x="457200" y="182880"/>
            <a:ext cx="3657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rial Black" pitchFamily="34" charset="0"/>
                <a:ea typeface="Arial Black" pitchFamily="34" charset="-122"/>
                <a:cs typeface="Arial Black" pitchFamily="34" charset="-120"/>
              </a:rPr>
              <a:t>03</a:t>
            </a:r>
            <a:endParaRPr lang="en-US" sz="1600" dirty="0"/>
          </a:p>
        </p:txBody>
      </p:sp>
      <p:sp>
        <p:nvSpPr>
          <p:cNvPr id="5" name="Text 3"/>
          <p:cNvSpPr/>
          <p:nvPr/>
        </p:nvSpPr>
        <p:spPr>
          <a:xfrm>
            <a:off x="7498080" y="201168"/>
            <a:ext cx="1188720" cy="292608"/>
          </a:xfrm>
          <a:prstGeom prst="rect">
            <a:avLst/>
          </a:prstGeom>
          <a:solidFill>
            <a:srgbClr val="DC2626"/>
          </a:solid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STRONG</a:t>
            </a:r>
            <a:endParaRPr lang="en-US" sz="900" dirty="0"/>
          </a:p>
        </p:txBody>
      </p:sp>
      <p:sp>
        <p:nvSpPr>
          <p:cNvPr id="6" name="Text 4"/>
          <p:cNvSpPr/>
          <p:nvPr/>
        </p:nvSpPr>
        <p:spPr>
          <a:xfrm>
            <a:off x="960120" y="164592"/>
            <a:ext cx="3474720" cy="411480"/>
          </a:xfrm>
          <a:prstGeom prst="rect">
            <a:avLst/>
          </a:prstGeom>
          <a:noFill/>
          <a:ln/>
        </p:spPr>
        <p:txBody>
          <a:bodyPr wrap="square" lIns="0" tIns="0" rIns="0" bIns="0" rtlCol="0" anchor="ctr"/>
          <a:lstStyle/>
          <a:p>
            <a:pPr indent="0" marL="0">
              <a:buNone/>
            </a:pPr>
            <a:r>
              <a:rPr lang="en-US" sz="1300" b="1" dirty="0">
                <a:solidFill>
                  <a:srgbClr val="1A2332"/>
                </a:solidFill>
                <a:latin typeface="Calibri" pitchFamily="34" charset="0"/>
                <a:ea typeface="Calibri" pitchFamily="34" charset="-122"/>
                <a:cs typeface="Calibri" pitchFamily="34" charset="-120"/>
              </a:rPr>
              <a:t>NEV Exports Surge 110% With Overseas Factory Buildout</a:t>
            </a:r>
            <a:endParaRPr lang="en-US" sz="1300" dirty="0"/>
          </a:p>
        </p:txBody>
      </p:sp>
      <p:sp>
        <p:nvSpPr>
          <p:cNvPr id="7" name="Text 5"/>
          <p:cNvSpPr/>
          <p:nvPr/>
        </p:nvSpPr>
        <p:spPr>
          <a:xfrm>
            <a:off x="4663440" y="164592"/>
            <a:ext cx="2743200" cy="411480"/>
          </a:xfrm>
          <a:prstGeom prst="rect">
            <a:avLst/>
          </a:prstGeom>
          <a:noFill/>
          <a:ln/>
        </p:spPr>
        <p:txBody>
          <a:bodyPr wrap="square" lIns="0" tIns="0" rIns="0" bIns="0" rtlCol="0" anchor="ctr"/>
          <a:lstStyle/>
          <a:p>
            <a:pPr indent="0" marL="0">
              <a:buNone/>
            </a:pPr>
            <a:r>
              <a:rPr lang="en-US" sz="1200" dirty="0">
                <a:solidFill>
                  <a:srgbClr val="334155"/>
                </a:solidFill>
                <a:latin typeface="Arial" pitchFamily="34" charset="0"/>
                <a:ea typeface="Arial" pitchFamily="34" charset="-122"/>
                <a:cs typeface="Arial" pitchFamily="34" charset="-120"/>
              </a:rPr>
              <a:t>新能源汽车出口激增110%，海外建厂加速</a:t>
            </a:r>
            <a:endParaRPr lang="en-US" sz="1200" dirty="0"/>
          </a:p>
        </p:txBody>
      </p:sp>
      <p:sp>
        <p:nvSpPr>
          <p:cNvPr id="8" name="Shape 6"/>
          <p:cNvSpPr/>
          <p:nvPr/>
        </p:nvSpPr>
        <p:spPr>
          <a:xfrm>
            <a:off x="4526280" y="685800"/>
            <a:ext cx="0" cy="4114800"/>
          </a:xfrm>
          <a:prstGeom prst="line">
            <a:avLst/>
          </a:prstGeom>
          <a:noFill/>
          <a:ln w="12700">
            <a:solidFill>
              <a:srgbClr val="CBD5E1"/>
            </a:solidFill>
            <a:prstDash val="solid"/>
          </a:ln>
        </p:spPr>
      </p:sp>
      <p:sp>
        <p:nvSpPr>
          <p:cNvPr id="9" name="Text 7"/>
          <p:cNvSpPr/>
          <p:nvPr/>
        </p:nvSpPr>
        <p:spPr>
          <a:xfrm>
            <a:off x="457200" y="640080"/>
            <a:ext cx="3931920" cy="22860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ENGLISH</a:t>
            </a:r>
            <a:endParaRPr lang="en-US" sz="800" dirty="0"/>
          </a:p>
        </p:txBody>
      </p:sp>
      <p:sp>
        <p:nvSpPr>
          <p:cNvPr id="10" name="Text 8"/>
          <p:cNvSpPr/>
          <p:nvPr/>
        </p:nvSpPr>
        <p:spPr>
          <a:xfrm>
            <a:off x="4663440" y="640080"/>
            <a:ext cx="4023360" cy="22860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中文</a:t>
            </a:r>
            <a:endParaRPr lang="en-US" sz="800" dirty="0"/>
          </a:p>
        </p:txBody>
      </p:sp>
      <p:sp>
        <p:nvSpPr>
          <p:cNvPr id="11" name="Shape 9"/>
          <p:cNvSpPr/>
          <p:nvPr/>
        </p:nvSpPr>
        <p:spPr>
          <a:xfrm>
            <a:off x="457200" y="914400"/>
            <a:ext cx="8229600" cy="502920"/>
          </a:xfrm>
          <a:prstGeom prst="rect">
            <a:avLst/>
          </a:prstGeom>
          <a:solidFill>
            <a:srgbClr val="0F1722"/>
          </a:solidFill>
          <a:ln/>
          <a:effectLst>
            <a:outerShdw sx="100000" sy="100000" kx="0" ky="0" algn="bl" rotWithShape="0" blurRad="76200" dist="25400" dir="8100000">
              <a:srgbClr val="000000">
                <a:alpha val="10000"/>
              </a:srgbClr>
            </a:outerShdw>
          </a:effectLst>
        </p:spPr>
      </p:sp>
      <p:sp>
        <p:nvSpPr>
          <p:cNvPr id="12" name="Text 10"/>
          <p:cNvSpPr/>
          <p:nvPr/>
        </p:nvSpPr>
        <p:spPr>
          <a:xfrm>
            <a:off x="640080" y="914400"/>
            <a:ext cx="3749040" cy="502920"/>
          </a:xfrm>
          <a:prstGeom prst="rect">
            <a:avLst/>
          </a:prstGeom>
          <a:noFill/>
          <a:ln/>
        </p:spPr>
        <p:txBody>
          <a:bodyPr wrap="square" lIns="0" tIns="0" rIns="0" bIns="0" rtlCol="0" anchor="ctr"/>
          <a:lstStyle/>
          <a:p>
            <a:pPr indent="0" marL="0">
              <a:buNone/>
            </a:pPr>
            <a:r>
              <a:rPr lang="en-US" sz="1400" dirty="0">
                <a:solidFill>
                  <a:srgbClr val="F59E0B"/>
                </a:solidFill>
                <a:latin typeface="Arial Black" pitchFamily="34" charset="0"/>
                <a:ea typeface="Arial Black" pitchFamily="34" charset="-122"/>
                <a:cs typeface="Arial Black" pitchFamily="34" charset="-120"/>
              </a:rPr>
              <a:t>583K  NEV exports Jan-Feb 2026</a:t>
            </a:r>
            <a:endParaRPr lang="en-US" sz="1400" dirty="0"/>
          </a:p>
        </p:txBody>
      </p:sp>
      <p:sp>
        <p:nvSpPr>
          <p:cNvPr id="13" name="Text 11"/>
          <p:cNvSpPr/>
          <p:nvPr/>
        </p:nvSpPr>
        <p:spPr>
          <a:xfrm>
            <a:off x="4754880" y="914400"/>
            <a:ext cx="3749040" cy="502920"/>
          </a:xfrm>
          <a:prstGeom prst="rect">
            <a:avLst/>
          </a:prstGeom>
          <a:noFill/>
          <a:ln/>
        </p:spPr>
        <p:txBody>
          <a:bodyPr wrap="square" lIns="0" tIns="0" rIns="0" bIns="0" rtlCol="0" anchor="ctr"/>
          <a:lstStyle/>
          <a:p>
            <a:pPr indent="0" marL="0">
              <a:buNone/>
            </a:pPr>
            <a:r>
              <a:rPr lang="en-US" sz="1400" dirty="0">
                <a:solidFill>
                  <a:srgbClr val="F59E0B"/>
                </a:solidFill>
                <a:latin typeface="Arial Black" pitchFamily="34" charset="0"/>
                <a:ea typeface="Arial Black" pitchFamily="34" charset="-122"/>
                <a:cs typeface="Arial Black" pitchFamily="34" charset="-120"/>
              </a:rPr>
              <a:t>583K  出口量（前两月，+110%）</a:t>
            </a:r>
            <a:endParaRPr lang="en-US" sz="1400" dirty="0"/>
          </a:p>
        </p:txBody>
      </p:sp>
      <p:sp>
        <p:nvSpPr>
          <p:cNvPr id="14" name="Text 12"/>
          <p:cNvSpPr/>
          <p:nvPr/>
        </p:nvSpPr>
        <p:spPr>
          <a:xfrm>
            <a:off x="457200" y="1554480"/>
            <a:ext cx="393192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THE SIGNAL</a:t>
            </a:r>
            <a:endParaRPr lang="en-US" sz="800" dirty="0"/>
          </a:p>
        </p:txBody>
      </p:sp>
      <p:sp>
        <p:nvSpPr>
          <p:cNvPr id="15" name="Text 13"/>
          <p:cNvSpPr/>
          <p:nvPr/>
        </p:nvSpPr>
        <p:spPr>
          <a:xfrm>
            <a:off x="4663440" y="1554480"/>
            <a:ext cx="402336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信号</a:t>
            </a:r>
            <a:endParaRPr lang="en-US" sz="800" dirty="0"/>
          </a:p>
        </p:txBody>
      </p:sp>
      <p:sp>
        <p:nvSpPr>
          <p:cNvPr id="16" name="Text 14"/>
          <p:cNvSpPr/>
          <p:nvPr/>
        </p:nvSpPr>
        <p:spPr>
          <a:xfrm>
            <a:off x="457200" y="175564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China exported 583,000 NEVs in Jan-Feb 2026 (+110% YoY); BYD targets 1.3M overseas units; BYD Hungary factory (300K capacity) expected Q2 2026.</a:t>
            </a:r>
            <a:endParaRPr lang="en-US" sz="1000" dirty="0"/>
          </a:p>
        </p:txBody>
      </p:sp>
      <p:sp>
        <p:nvSpPr>
          <p:cNvPr id="17" name="Text 15"/>
          <p:cNvSpPr/>
          <p:nvPr/>
        </p:nvSpPr>
        <p:spPr>
          <a:xfrm>
            <a:off x="4663440" y="175564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2026年前两月出口新能源汽车58.3万辆（同比+110%）；比亚迪海外目标130万辆；匈牙利工厂（年产能30万）预计二季度投产。</a:t>
            </a:r>
            <a:endParaRPr lang="en-US" sz="1000" dirty="0"/>
          </a:p>
        </p:txBody>
      </p:sp>
      <p:sp>
        <p:nvSpPr>
          <p:cNvPr id="18" name="Text 16"/>
          <p:cNvSpPr/>
          <p:nvPr/>
        </p:nvSpPr>
        <p:spPr>
          <a:xfrm>
            <a:off x="457200" y="2331720"/>
            <a:ext cx="393192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CHINA SCALE</a:t>
            </a:r>
            <a:endParaRPr lang="en-US" sz="800" dirty="0"/>
          </a:p>
        </p:txBody>
      </p:sp>
      <p:sp>
        <p:nvSpPr>
          <p:cNvPr id="19" name="Text 17"/>
          <p:cNvSpPr/>
          <p:nvPr/>
        </p:nvSpPr>
        <p:spPr>
          <a:xfrm>
            <a:off x="4663440" y="2331720"/>
            <a:ext cx="402336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中国规模</a:t>
            </a:r>
            <a:endParaRPr lang="en-US" sz="800" dirty="0"/>
          </a:p>
        </p:txBody>
      </p:sp>
      <p:sp>
        <p:nvSpPr>
          <p:cNvPr id="20" name="Text 18"/>
          <p:cNvSpPr/>
          <p:nvPr/>
        </p:nvSpPr>
        <p:spPr>
          <a:xfrm>
            <a:off x="457200" y="253288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NEV exports grew 12x from 223K to 2.615M units between 2020-2025; the shift to local manufacturing bypasses EU tariffs.</a:t>
            </a:r>
            <a:endParaRPr lang="en-US" sz="1000" dirty="0"/>
          </a:p>
        </p:txBody>
      </p:sp>
      <p:sp>
        <p:nvSpPr>
          <p:cNvPr id="21" name="Text 19"/>
          <p:cNvSpPr/>
          <p:nvPr/>
        </p:nvSpPr>
        <p:spPr>
          <a:xfrm>
            <a:off x="4663440" y="253288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新能源汽车出口从2020年22.3万辆增至2025年261.5万辆，增长12倍；本地建厂绕开欧盟关税壁垒。</a:t>
            </a:r>
            <a:endParaRPr lang="en-US" sz="1000" dirty="0"/>
          </a:p>
        </p:txBody>
      </p:sp>
      <p:sp>
        <p:nvSpPr>
          <p:cNvPr id="22" name="Text 20"/>
          <p:cNvSpPr/>
          <p:nvPr/>
        </p:nvSpPr>
        <p:spPr>
          <a:xfrm>
            <a:off x="457200" y="3108960"/>
            <a:ext cx="3931920" cy="182880"/>
          </a:xfrm>
          <a:prstGeom prst="rect">
            <a:avLst/>
          </a:prstGeom>
          <a:noFill/>
          <a:ln/>
        </p:spPr>
        <p:txBody>
          <a:bodyPr wrap="square" lIns="0" tIns="0" rIns="0" bIns="0" rtlCol="0" anchor="ctr"/>
          <a:lstStyle/>
          <a:p>
            <a:pPr indent="0" marL="0">
              <a:buNone/>
            </a:pPr>
            <a:r>
              <a:rPr lang="en-US" sz="800" b="1" dirty="0">
                <a:solidFill>
                  <a:srgbClr val="0D9488"/>
                </a:solidFill>
                <a:latin typeface="Calibri" pitchFamily="34" charset="0"/>
                <a:ea typeface="Calibri" pitchFamily="34" charset="-122"/>
                <a:cs typeface="Calibri" pitchFamily="34" charset="-120"/>
              </a:rPr>
              <a:t>GLOBAL IMPACT</a:t>
            </a:r>
            <a:endParaRPr lang="en-US" sz="800" dirty="0"/>
          </a:p>
        </p:txBody>
      </p:sp>
      <p:sp>
        <p:nvSpPr>
          <p:cNvPr id="23" name="Text 21"/>
          <p:cNvSpPr/>
          <p:nvPr/>
        </p:nvSpPr>
        <p:spPr>
          <a:xfrm>
            <a:off x="4663440" y="3108960"/>
            <a:ext cx="4023360" cy="182880"/>
          </a:xfrm>
          <a:prstGeom prst="rect">
            <a:avLst/>
          </a:prstGeom>
          <a:noFill/>
          <a:ln/>
        </p:spPr>
        <p:txBody>
          <a:bodyPr wrap="square" lIns="0" tIns="0" rIns="0" bIns="0" rtlCol="0" anchor="ctr"/>
          <a:lstStyle/>
          <a:p>
            <a:pPr indent="0" marL="0">
              <a:buNone/>
            </a:pPr>
            <a:r>
              <a:rPr lang="en-US" sz="800" b="1" dirty="0">
                <a:solidFill>
                  <a:srgbClr val="0D9488"/>
                </a:solidFill>
                <a:latin typeface="Calibri" pitchFamily="34" charset="0"/>
                <a:ea typeface="Calibri" pitchFamily="34" charset="-122"/>
                <a:cs typeface="Calibri" pitchFamily="34" charset="-120"/>
              </a:rPr>
              <a:t>全球影响</a:t>
            </a:r>
            <a:endParaRPr lang="en-US" sz="800" dirty="0"/>
          </a:p>
        </p:txBody>
      </p:sp>
      <p:sp>
        <p:nvSpPr>
          <p:cNvPr id="24" name="Text 22"/>
          <p:cNvSpPr/>
          <p:nvPr/>
        </p:nvSpPr>
        <p:spPr>
          <a:xfrm>
            <a:off x="457200" y="331012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European automakers face Chinese EVs 20-30% cheaper plus Chinese-owned local factories qualifying for domestic subsidies.</a:t>
            </a:r>
            <a:endParaRPr lang="en-US" sz="1000" dirty="0"/>
          </a:p>
        </p:txBody>
      </p:sp>
      <p:sp>
        <p:nvSpPr>
          <p:cNvPr id="25" name="Text 23"/>
          <p:cNvSpPr/>
          <p:nvPr/>
        </p:nvSpPr>
        <p:spPr>
          <a:xfrm>
            <a:off x="4663440" y="331012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欧洲车企面临价格低20-30%的中国电动车，以及享受本地补贴的中资工厂双重竞争。</a:t>
            </a:r>
            <a:endParaRPr lang="en-US" sz="1000" dirty="0"/>
          </a:p>
        </p:txBody>
      </p:sp>
      <p:sp>
        <p:nvSpPr>
          <p:cNvPr id="26" name="Text 24"/>
          <p:cNvSpPr/>
          <p:nvPr/>
        </p:nvSpPr>
        <p:spPr>
          <a:xfrm>
            <a:off x="457200" y="3886200"/>
            <a:ext cx="3931920" cy="182880"/>
          </a:xfrm>
          <a:prstGeom prst="rect">
            <a:avLst/>
          </a:prstGeom>
          <a:noFill/>
          <a:ln/>
        </p:spPr>
        <p:txBody>
          <a:bodyPr wrap="square" lIns="0" tIns="0" rIns="0" bIns="0" rtlCol="0" anchor="ctr"/>
          <a:lstStyle/>
          <a:p>
            <a:pPr indent="0" marL="0">
              <a:buNone/>
            </a:pPr>
            <a:r>
              <a:rPr lang="en-US" sz="800" b="1" dirty="0">
                <a:solidFill>
                  <a:srgbClr val="F59E0B"/>
                </a:solidFill>
                <a:latin typeface="Calibri" pitchFamily="34" charset="0"/>
                <a:ea typeface="Calibri" pitchFamily="34" charset="-122"/>
                <a:cs typeface="Calibri" pitchFamily="34" charset="-120"/>
              </a:rPr>
              <a:t>MONDAY MORNING</a:t>
            </a:r>
            <a:endParaRPr lang="en-US" sz="800" dirty="0"/>
          </a:p>
        </p:txBody>
      </p:sp>
      <p:sp>
        <p:nvSpPr>
          <p:cNvPr id="27" name="Text 25"/>
          <p:cNvSpPr/>
          <p:nvPr/>
        </p:nvSpPr>
        <p:spPr>
          <a:xfrm>
            <a:off x="4663440" y="3886200"/>
            <a:ext cx="4023360" cy="182880"/>
          </a:xfrm>
          <a:prstGeom prst="rect">
            <a:avLst/>
          </a:prstGeom>
          <a:noFill/>
          <a:ln/>
        </p:spPr>
        <p:txBody>
          <a:bodyPr wrap="square" lIns="0" tIns="0" rIns="0" bIns="0" rtlCol="0" anchor="ctr"/>
          <a:lstStyle/>
          <a:p>
            <a:pPr indent="0" marL="0">
              <a:buNone/>
            </a:pPr>
            <a:r>
              <a:rPr lang="en-US" sz="800" b="1" dirty="0">
                <a:solidFill>
                  <a:srgbClr val="F59E0B"/>
                </a:solidFill>
                <a:latin typeface="Calibri" pitchFamily="34" charset="0"/>
                <a:ea typeface="Calibri" pitchFamily="34" charset="-122"/>
                <a:cs typeface="Calibri" pitchFamily="34" charset="-120"/>
              </a:rPr>
              <a:t>周一行动</a:t>
            </a:r>
            <a:endParaRPr lang="en-US" sz="800" dirty="0"/>
          </a:p>
        </p:txBody>
      </p:sp>
      <p:sp>
        <p:nvSpPr>
          <p:cNvPr id="28" name="Text 26"/>
          <p:cNvSpPr/>
          <p:nvPr/>
        </p:nvSpPr>
        <p:spPr>
          <a:xfrm>
            <a:off x="457200" y="408736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Map BYD Hungary production timeline against your own EV launches in the same price segments.</a:t>
            </a:r>
            <a:endParaRPr lang="en-US" sz="1000" dirty="0"/>
          </a:p>
        </p:txBody>
      </p:sp>
      <p:sp>
        <p:nvSpPr>
          <p:cNvPr id="29" name="Text 27"/>
          <p:cNvSpPr/>
          <p:nvPr/>
        </p:nvSpPr>
        <p:spPr>
          <a:xfrm>
            <a:off x="4663440" y="408736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将比亚迪匈牙利工厂投产时间与自身同价位电动车产品上市计划进行对照。</a:t>
            </a:r>
            <a:endParaRPr lang="en-US" sz="1000" dirty="0"/>
          </a:p>
        </p:txBody>
      </p:sp>
      <p:sp>
        <p:nvSpPr>
          <p:cNvPr id="30" name="Text 28"/>
          <p:cNvSpPr/>
          <p:nvPr/>
        </p:nvSpPr>
        <p:spPr>
          <a:xfrm>
            <a:off x="457200" y="4800600"/>
            <a:ext cx="8229600" cy="164592"/>
          </a:xfrm>
          <a:prstGeom prst="rect">
            <a:avLst/>
          </a:prstGeom>
          <a:noFill/>
          <a:ln/>
        </p:spPr>
        <p:txBody>
          <a:bodyPr wrap="square" lIns="0" tIns="0" rIns="0" bIns="0" rtlCol="0" anchor="ctr"/>
          <a:lstStyle/>
          <a:p>
            <a:pPr indent="0" marL="0">
              <a:buNone/>
            </a:pPr>
            <a:r>
              <a:rPr lang="en-US" sz="700" dirty="0">
                <a:solidFill>
                  <a:srgbClr val="94A3B8"/>
                </a:solidFill>
                <a:latin typeface="Calibri" pitchFamily="34" charset="0"/>
                <a:ea typeface="Calibri" pitchFamily="34" charset="-122"/>
                <a:cs typeface="Calibri" pitchFamily="34" charset="-120"/>
              </a:rPr>
              <a:t>Source: 36氪 (36Kr)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DC2626"/>
          </a:solidFill>
          <a:ln/>
        </p:spPr>
      </p:sp>
      <p:sp>
        <p:nvSpPr>
          <p:cNvPr id="3" name="Shape 1"/>
          <p:cNvSpPr/>
          <p:nvPr/>
        </p:nvSpPr>
        <p:spPr>
          <a:xfrm>
            <a:off x="457200" y="182880"/>
            <a:ext cx="365760" cy="365760"/>
          </a:xfrm>
          <a:prstGeom prst="rect">
            <a:avLst/>
          </a:prstGeom>
          <a:solidFill>
            <a:srgbClr val="F59E0B"/>
          </a:solidFill>
          <a:ln/>
        </p:spPr>
      </p:sp>
      <p:sp>
        <p:nvSpPr>
          <p:cNvPr id="4" name="Text 2"/>
          <p:cNvSpPr/>
          <p:nvPr/>
        </p:nvSpPr>
        <p:spPr>
          <a:xfrm>
            <a:off x="457200" y="182880"/>
            <a:ext cx="3657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rial Black" pitchFamily="34" charset="0"/>
                <a:ea typeface="Arial Black" pitchFamily="34" charset="-122"/>
                <a:cs typeface="Arial Black" pitchFamily="34" charset="-120"/>
              </a:rPr>
              <a:t>04</a:t>
            </a:r>
            <a:endParaRPr lang="en-US" sz="1600" dirty="0"/>
          </a:p>
        </p:txBody>
      </p:sp>
      <p:sp>
        <p:nvSpPr>
          <p:cNvPr id="5" name="Text 3"/>
          <p:cNvSpPr/>
          <p:nvPr/>
        </p:nvSpPr>
        <p:spPr>
          <a:xfrm>
            <a:off x="7498080" y="201168"/>
            <a:ext cx="1188720" cy="292608"/>
          </a:xfrm>
          <a:prstGeom prst="rect">
            <a:avLst/>
          </a:prstGeom>
          <a:solidFill>
            <a:srgbClr val="F59E0B"/>
          </a:solid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EMERGING</a:t>
            </a:r>
            <a:endParaRPr lang="en-US" sz="900" dirty="0"/>
          </a:p>
        </p:txBody>
      </p:sp>
      <p:sp>
        <p:nvSpPr>
          <p:cNvPr id="6" name="Text 4"/>
          <p:cNvSpPr/>
          <p:nvPr/>
        </p:nvSpPr>
        <p:spPr>
          <a:xfrm>
            <a:off x="960120" y="164592"/>
            <a:ext cx="3474720" cy="411480"/>
          </a:xfrm>
          <a:prstGeom prst="rect">
            <a:avLst/>
          </a:prstGeom>
          <a:noFill/>
          <a:ln/>
        </p:spPr>
        <p:txBody>
          <a:bodyPr wrap="square" lIns="0" tIns="0" rIns="0" bIns="0" rtlCol="0" anchor="ctr"/>
          <a:lstStyle/>
          <a:p>
            <a:pPr indent="0" marL="0">
              <a:buNone/>
            </a:pPr>
            <a:r>
              <a:rPr lang="en-US" sz="1300" b="1" dirty="0">
                <a:solidFill>
                  <a:srgbClr val="1A2332"/>
                </a:solidFill>
                <a:latin typeface="Calibri" pitchFamily="34" charset="0"/>
                <a:ea typeface="Calibri" pitchFamily="34" charset="-122"/>
                <a:cs typeface="Calibri" pitchFamily="34" charset="-120"/>
              </a:rPr>
              <a:t>12 ICV Standards Released, V2X Integration in 20 Cities</a:t>
            </a:r>
            <a:endParaRPr lang="en-US" sz="1300" dirty="0"/>
          </a:p>
        </p:txBody>
      </p:sp>
      <p:sp>
        <p:nvSpPr>
          <p:cNvPr id="7" name="Text 5"/>
          <p:cNvSpPr/>
          <p:nvPr/>
        </p:nvSpPr>
        <p:spPr>
          <a:xfrm>
            <a:off x="4663440" y="164592"/>
            <a:ext cx="2743200" cy="411480"/>
          </a:xfrm>
          <a:prstGeom prst="rect">
            <a:avLst/>
          </a:prstGeom>
          <a:noFill/>
          <a:ln/>
        </p:spPr>
        <p:txBody>
          <a:bodyPr wrap="square" lIns="0" tIns="0" rIns="0" bIns="0" rtlCol="0" anchor="ctr"/>
          <a:lstStyle/>
          <a:p>
            <a:pPr indent="0" marL="0">
              <a:buNone/>
            </a:pPr>
            <a:r>
              <a:rPr lang="en-US" sz="1200" dirty="0">
                <a:solidFill>
                  <a:srgbClr val="334155"/>
                </a:solidFill>
                <a:latin typeface="Arial" pitchFamily="34" charset="0"/>
                <a:ea typeface="Arial" pitchFamily="34" charset="-122"/>
                <a:cs typeface="Arial" pitchFamily="34" charset="-120"/>
              </a:rPr>
              <a:t>发布12项智能网联标准，车路云覆盖20城</a:t>
            </a:r>
            <a:endParaRPr lang="en-US" sz="1200" dirty="0"/>
          </a:p>
        </p:txBody>
      </p:sp>
      <p:sp>
        <p:nvSpPr>
          <p:cNvPr id="8" name="Shape 6"/>
          <p:cNvSpPr/>
          <p:nvPr/>
        </p:nvSpPr>
        <p:spPr>
          <a:xfrm>
            <a:off x="4526280" y="685800"/>
            <a:ext cx="0" cy="4114800"/>
          </a:xfrm>
          <a:prstGeom prst="line">
            <a:avLst/>
          </a:prstGeom>
          <a:noFill/>
          <a:ln w="12700">
            <a:solidFill>
              <a:srgbClr val="CBD5E1"/>
            </a:solidFill>
            <a:prstDash val="solid"/>
          </a:ln>
        </p:spPr>
      </p:sp>
      <p:sp>
        <p:nvSpPr>
          <p:cNvPr id="9" name="Text 7"/>
          <p:cNvSpPr/>
          <p:nvPr/>
        </p:nvSpPr>
        <p:spPr>
          <a:xfrm>
            <a:off x="457200" y="640080"/>
            <a:ext cx="3931920" cy="22860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ENGLISH</a:t>
            </a:r>
            <a:endParaRPr lang="en-US" sz="800" dirty="0"/>
          </a:p>
        </p:txBody>
      </p:sp>
      <p:sp>
        <p:nvSpPr>
          <p:cNvPr id="10" name="Text 8"/>
          <p:cNvSpPr/>
          <p:nvPr/>
        </p:nvSpPr>
        <p:spPr>
          <a:xfrm>
            <a:off x="4663440" y="640080"/>
            <a:ext cx="4023360" cy="22860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中文</a:t>
            </a:r>
            <a:endParaRPr lang="en-US" sz="800" dirty="0"/>
          </a:p>
        </p:txBody>
      </p:sp>
      <p:sp>
        <p:nvSpPr>
          <p:cNvPr id="11" name="Shape 9"/>
          <p:cNvSpPr/>
          <p:nvPr/>
        </p:nvSpPr>
        <p:spPr>
          <a:xfrm>
            <a:off x="457200" y="914400"/>
            <a:ext cx="8229600" cy="502920"/>
          </a:xfrm>
          <a:prstGeom prst="rect">
            <a:avLst/>
          </a:prstGeom>
          <a:solidFill>
            <a:srgbClr val="0F1722"/>
          </a:solidFill>
          <a:ln/>
          <a:effectLst>
            <a:outerShdw sx="100000" sy="100000" kx="0" ky="0" algn="bl" rotWithShape="0" blurRad="76200" dist="25400" dir="8100000">
              <a:srgbClr val="000000">
                <a:alpha val="10000"/>
              </a:srgbClr>
            </a:outerShdw>
          </a:effectLst>
        </p:spPr>
      </p:sp>
      <p:sp>
        <p:nvSpPr>
          <p:cNvPr id="12" name="Text 10"/>
          <p:cNvSpPr/>
          <p:nvPr/>
        </p:nvSpPr>
        <p:spPr>
          <a:xfrm>
            <a:off x="640080" y="914400"/>
            <a:ext cx="3749040" cy="502920"/>
          </a:xfrm>
          <a:prstGeom prst="rect">
            <a:avLst/>
          </a:prstGeom>
          <a:noFill/>
          <a:ln/>
        </p:spPr>
        <p:txBody>
          <a:bodyPr wrap="square" lIns="0" tIns="0" rIns="0" bIns="0" rtlCol="0" anchor="ctr"/>
          <a:lstStyle/>
          <a:p>
            <a:pPr indent="0" marL="0">
              <a:buNone/>
            </a:pPr>
            <a:r>
              <a:rPr lang="en-US" sz="1400" dirty="0">
                <a:solidFill>
                  <a:srgbClr val="F59E0B"/>
                </a:solidFill>
                <a:latin typeface="Arial Black" pitchFamily="34" charset="0"/>
                <a:ea typeface="Arial Black" pitchFamily="34" charset="-122"/>
                <a:cs typeface="Arial Black" pitchFamily="34" charset="-120"/>
              </a:rPr>
              <a:t>50%+  target V2X in new cars</a:t>
            </a:r>
            <a:endParaRPr lang="en-US" sz="1400" dirty="0"/>
          </a:p>
        </p:txBody>
      </p:sp>
      <p:sp>
        <p:nvSpPr>
          <p:cNvPr id="13" name="Text 11"/>
          <p:cNvSpPr/>
          <p:nvPr/>
        </p:nvSpPr>
        <p:spPr>
          <a:xfrm>
            <a:off x="4754880" y="914400"/>
            <a:ext cx="3749040" cy="502920"/>
          </a:xfrm>
          <a:prstGeom prst="rect">
            <a:avLst/>
          </a:prstGeom>
          <a:noFill/>
          <a:ln/>
        </p:spPr>
        <p:txBody>
          <a:bodyPr wrap="square" lIns="0" tIns="0" rIns="0" bIns="0" rtlCol="0" anchor="ctr"/>
          <a:lstStyle/>
          <a:p>
            <a:pPr indent="0" marL="0">
              <a:buNone/>
            </a:pPr>
            <a:r>
              <a:rPr lang="en-US" sz="1400" dirty="0">
                <a:solidFill>
                  <a:srgbClr val="F59E0B"/>
                </a:solidFill>
                <a:latin typeface="Arial Black" pitchFamily="34" charset="0"/>
                <a:ea typeface="Arial Black" pitchFamily="34" charset="-122"/>
                <a:cs typeface="Arial Black" pitchFamily="34" charset="-120"/>
              </a:rPr>
              <a:t>50%+  新车V2X搭载率目标</a:t>
            </a:r>
            <a:endParaRPr lang="en-US" sz="1400" dirty="0"/>
          </a:p>
        </p:txBody>
      </p:sp>
      <p:sp>
        <p:nvSpPr>
          <p:cNvPr id="14" name="Text 12"/>
          <p:cNvSpPr/>
          <p:nvPr/>
        </p:nvSpPr>
        <p:spPr>
          <a:xfrm>
            <a:off x="457200" y="1554480"/>
            <a:ext cx="393192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THE SIGNAL</a:t>
            </a:r>
            <a:endParaRPr lang="en-US" sz="800" dirty="0"/>
          </a:p>
        </p:txBody>
      </p:sp>
      <p:sp>
        <p:nvSpPr>
          <p:cNvPr id="15" name="Text 13"/>
          <p:cNvSpPr/>
          <p:nvPr/>
        </p:nvSpPr>
        <p:spPr>
          <a:xfrm>
            <a:off x="4663440" y="1554480"/>
            <a:ext cx="402336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信号</a:t>
            </a:r>
            <a:endParaRPr lang="en-US" sz="800" dirty="0"/>
          </a:p>
        </p:txBody>
      </p:sp>
      <p:sp>
        <p:nvSpPr>
          <p:cNvPr id="16" name="Text 14"/>
          <p:cNvSpPr/>
          <p:nvPr/>
        </p:nvSpPr>
        <p:spPr>
          <a:xfrm>
            <a:off x="457200" y="175564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12 standards released March 28 for collaborative ICV and complex-road driving; 20 pilot cities building V2X infrastructure; target 50%+ 5G/V2X rate in new cars.</a:t>
            </a:r>
            <a:endParaRPr lang="en-US" sz="1000" dirty="0"/>
          </a:p>
        </p:txBody>
      </p:sp>
      <p:sp>
        <p:nvSpPr>
          <p:cNvPr id="17" name="Text 15"/>
          <p:cNvSpPr/>
          <p:nvPr/>
        </p:nvSpPr>
        <p:spPr>
          <a:xfrm>
            <a:off x="4663440" y="175564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3月28日发布12项协同式智能网联和复杂道路驾驶标准；20个试点城市建设车路云基础设施；新车V2X搭载率目标超50%。</a:t>
            </a:r>
            <a:endParaRPr lang="en-US" sz="1000" dirty="0"/>
          </a:p>
        </p:txBody>
      </p:sp>
      <p:sp>
        <p:nvSpPr>
          <p:cNvPr id="18" name="Text 16"/>
          <p:cNvSpPr/>
          <p:nvPr/>
        </p:nvSpPr>
        <p:spPr>
          <a:xfrm>
            <a:off x="457200" y="2331720"/>
            <a:ext cx="393192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CHINA SCALE</a:t>
            </a:r>
            <a:endParaRPr lang="en-US" sz="800" dirty="0"/>
          </a:p>
        </p:txBody>
      </p:sp>
      <p:sp>
        <p:nvSpPr>
          <p:cNvPr id="19" name="Text 17"/>
          <p:cNvSpPr/>
          <p:nvPr/>
        </p:nvSpPr>
        <p:spPr>
          <a:xfrm>
            <a:off x="4663440" y="2331720"/>
            <a:ext cx="4023360" cy="182880"/>
          </a:xfrm>
          <a:prstGeom prst="rect">
            <a:avLst/>
          </a:prstGeom>
          <a:noFill/>
          <a:ln/>
        </p:spPr>
        <p:txBody>
          <a:bodyPr wrap="square" lIns="0" tIns="0" rIns="0" bIns="0" rtlCol="0" anchor="ctr"/>
          <a:lstStyle/>
          <a:p>
            <a:pPr indent="0" marL="0">
              <a:buNone/>
            </a:pPr>
            <a:r>
              <a:rPr lang="en-US" sz="800" b="1" dirty="0">
                <a:solidFill>
                  <a:srgbClr val="DC2626"/>
                </a:solidFill>
                <a:latin typeface="Calibri" pitchFamily="34" charset="0"/>
                <a:ea typeface="Calibri" pitchFamily="34" charset="-122"/>
                <a:cs typeface="Calibri" pitchFamily="34" charset="-120"/>
              </a:rPr>
              <a:t>中国规模</a:t>
            </a:r>
            <a:endParaRPr lang="en-US" sz="800" dirty="0"/>
          </a:p>
        </p:txBody>
      </p:sp>
      <p:sp>
        <p:nvSpPr>
          <p:cNvPr id="20" name="Text 18"/>
          <p:cNvSpPr/>
          <p:nvPr/>
        </p:nvSpPr>
        <p:spPr>
          <a:xfrm>
            <a:off x="457200" y="253288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No other country builds vehicle-road-cloud at this scale; the 5 most advanced L4 cities have 100K+ connected vehicles.</a:t>
            </a:r>
            <a:endParaRPr lang="en-US" sz="1000" dirty="0"/>
          </a:p>
        </p:txBody>
      </p:sp>
      <p:sp>
        <p:nvSpPr>
          <p:cNvPr id="21" name="Text 19"/>
          <p:cNvSpPr/>
          <p:nvPr/>
        </p:nvSpPr>
        <p:spPr>
          <a:xfrm>
            <a:off x="4663440" y="253288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全球没有其他国家以此规模建设车路云；5座最先进的L4城市已有超10万辆联网车辆。</a:t>
            </a:r>
            <a:endParaRPr lang="en-US" sz="1000" dirty="0"/>
          </a:p>
        </p:txBody>
      </p:sp>
      <p:sp>
        <p:nvSpPr>
          <p:cNvPr id="22" name="Text 20"/>
          <p:cNvSpPr/>
          <p:nvPr/>
        </p:nvSpPr>
        <p:spPr>
          <a:xfrm>
            <a:off x="457200" y="3108960"/>
            <a:ext cx="3931920" cy="182880"/>
          </a:xfrm>
          <a:prstGeom prst="rect">
            <a:avLst/>
          </a:prstGeom>
          <a:noFill/>
          <a:ln/>
        </p:spPr>
        <p:txBody>
          <a:bodyPr wrap="square" lIns="0" tIns="0" rIns="0" bIns="0" rtlCol="0" anchor="ctr"/>
          <a:lstStyle/>
          <a:p>
            <a:pPr indent="0" marL="0">
              <a:buNone/>
            </a:pPr>
            <a:r>
              <a:rPr lang="en-US" sz="800" b="1" dirty="0">
                <a:solidFill>
                  <a:srgbClr val="0D9488"/>
                </a:solidFill>
                <a:latin typeface="Calibri" pitchFamily="34" charset="0"/>
                <a:ea typeface="Calibri" pitchFamily="34" charset="-122"/>
                <a:cs typeface="Calibri" pitchFamily="34" charset="-120"/>
              </a:rPr>
              <a:t>GLOBAL IMPACT</a:t>
            </a:r>
            <a:endParaRPr lang="en-US" sz="800" dirty="0"/>
          </a:p>
        </p:txBody>
      </p:sp>
      <p:sp>
        <p:nvSpPr>
          <p:cNvPr id="23" name="Text 21"/>
          <p:cNvSpPr/>
          <p:nvPr/>
        </p:nvSpPr>
        <p:spPr>
          <a:xfrm>
            <a:off x="4663440" y="3108960"/>
            <a:ext cx="4023360" cy="182880"/>
          </a:xfrm>
          <a:prstGeom prst="rect">
            <a:avLst/>
          </a:prstGeom>
          <a:noFill/>
          <a:ln/>
        </p:spPr>
        <p:txBody>
          <a:bodyPr wrap="square" lIns="0" tIns="0" rIns="0" bIns="0" rtlCol="0" anchor="ctr"/>
          <a:lstStyle/>
          <a:p>
            <a:pPr indent="0" marL="0">
              <a:buNone/>
            </a:pPr>
            <a:r>
              <a:rPr lang="en-US" sz="800" b="1" dirty="0">
                <a:solidFill>
                  <a:srgbClr val="0D9488"/>
                </a:solidFill>
                <a:latin typeface="Calibri" pitchFamily="34" charset="0"/>
                <a:ea typeface="Calibri" pitchFamily="34" charset="-122"/>
                <a:cs typeface="Calibri" pitchFamily="34" charset="-120"/>
              </a:rPr>
              <a:t>全球影响</a:t>
            </a:r>
            <a:endParaRPr lang="en-US" sz="800" dirty="0"/>
          </a:p>
        </p:txBody>
      </p:sp>
      <p:sp>
        <p:nvSpPr>
          <p:cNvPr id="24" name="Text 22"/>
          <p:cNvSpPr/>
          <p:nvPr/>
        </p:nvSpPr>
        <p:spPr>
          <a:xfrm>
            <a:off x="457200" y="331012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China creates a two-tier AV ecosystem: vehicles with infrastructure support and those without, advantaging Chinese systems globally.</a:t>
            </a:r>
            <a:endParaRPr lang="en-US" sz="1000" dirty="0"/>
          </a:p>
        </p:txBody>
      </p:sp>
      <p:sp>
        <p:nvSpPr>
          <p:cNvPr id="25" name="Text 23"/>
          <p:cNvSpPr/>
          <p:nvPr/>
        </p:nvSpPr>
        <p:spPr>
          <a:xfrm>
            <a:off x="4663440" y="331012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中国构建双层自动驾驶生态：有基础设施支持与无支持的车辆，中国系统在全球获得结构性优势。</a:t>
            </a:r>
            <a:endParaRPr lang="en-US" sz="1000" dirty="0"/>
          </a:p>
        </p:txBody>
      </p:sp>
      <p:sp>
        <p:nvSpPr>
          <p:cNvPr id="26" name="Text 24"/>
          <p:cNvSpPr/>
          <p:nvPr/>
        </p:nvSpPr>
        <p:spPr>
          <a:xfrm>
            <a:off x="457200" y="3886200"/>
            <a:ext cx="3931920" cy="182880"/>
          </a:xfrm>
          <a:prstGeom prst="rect">
            <a:avLst/>
          </a:prstGeom>
          <a:noFill/>
          <a:ln/>
        </p:spPr>
        <p:txBody>
          <a:bodyPr wrap="square" lIns="0" tIns="0" rIns="0" bIns="0" rtlCol="0" anchor="ctr"/>
          <a:lstStyle/>
          <a:p>
            <a:pPr indent="0" marL="0">
              <a:buNone/>
            </a:pPr>
            <a:r>
              <a:rPr lang="en-US" sz="800" b="1" dirty="0">
                <a:solidFill>
                  <a:srgbClr val="F59E0B"/>
                </a:solidFill>
                <a:latin typeface="Calibri" pitchFamily="34" charset="0"/>
                <a:ea typeface="Calibri" pitchFamily="34" charset="-122"/>
                <a:cs typeface="Calibri" pitchFamily="34" charset="-120"/>
              </a:rPr>
              <a:t>MONDAY MORNING</a:t>
            </a:r>
            <a:endParaRPr lang="en-US" sz="800" dirty="0"/>
          </a:p>
        </p:txBody>
      </p:sp>
      <p:sp>
        <p:nvSpPr>
          <p:cNvPr id="27" name="Text 25"/>
          <p:cNvSpPr/>
          <p:nvPr/>
        </p:nvSpPr>
        <p:spPr>
          <a:xfrm>
            <a:off x="4663440" y="3886200"/>
            <a:ext cx="4023360" cy="182880"/>
          </a:xfrm>
          <a:prstGeom prst="rect">
            <a:avLst/>
          </a:prstGeom>
          <a:noFill/>
          <a:ln/>
        </p:spPr>
        <p:txBody>
          <a:bodyPr wrap="square" lIns="0" tIns="0" rIns="0" bIns="0" rtlCol="0" anchor="ctr"/>
          <a:lstStyle/>
          <a:p>
            <a:pPr indent="0" marL="0">
              <a:buNone/>
            </a:pPr>
            <a:r>
              <a:rPr lang="en-US" sz="800" b="1" dirty="0">
                <a:solidFill>
                  <a:srgbClr val="F59E0B"/>
                </a:solidFill>
                <a:latin typeface="Calibri" pitchFamily="34" charset="0"/>
                <a:ea typeface="Calibri" pitchFamily="34" charset="-122"/>
                <a:cs typeface="Calibri" pitchFamily="34" charset="-120"/>
              </a:rPr>
              <a:t>周一行动</a:t>
            </a:r>
            <a:endParaRPr lang="en-US" sz="800" dirty="0"/>
          </a:p>
        </p:txBody>
      </p:sp>
      <p:sp>
        <p:nvSpPr>
          <p:cNvPr id="28" name="Text 26"/>
          <p:cNvSpPr/>
          <p:nvPr/>
        </p:nvSpPr>
        <p:spPr>
          <a:xfrm>
            <a:off x="457200" y="4087368"/>
            <a:ext cx="3931920" cy="530352"/>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Evaluate whether your AV architecture can leverage V2X data or is locked into camera-lidar only.</a:t>
            </a:r>
            <a:endParaRPr lang="en-US" sz="1000" dirty="0"/>
          </a:p>
        </p:txBody>
      </p:sp>
      <p:sp>
        <p:nvSpPr>
          <p:cNvPr id="29" name="Text 27"/>
          <p:cNvSpPr/>
          <p:nvPr/>
        </p:nvSpPr>
        <p:spPr>
          <a:xfrm>
            <a:off x="4663440" y="4087368"/>
            <a:ext cx="4023360" cy="530352"/>
          </a:xfrm>
          <a:prstGeom prst="rect">
            <a:avLst/>
          </a:prstGeom>
          <a:noFill/>
          <a:ln/>
        </p:spPr>
        <p:txBody>
          <a:bodyPr wrap="square" lIns="0" tIns="0" rIns="0" bIns="0" rtlCol="0" anchor="ctr"/>
          <a:lstStyle/>
          <a:p>
            <a:pPr indent="0" marL="0">
              <a:buNone/>
            </a:pPr>
            <a:r>
              <a:rPr lang="en-US" sz="1000" dirty="0">
                <a:solidFill>
                  <a:srgbClr val="334155"/>
                </a:solidFill>
                <a:latin typeface="Arial" pitchFamily="34" charset="0"/>
                <a:ea typeface="Arial" pitchFamily="34" charset="-122"/>
                <a:cs typeface="Arial" pitchFamily="34" charset="-120"/>
              </a:rPr>
              <a:t>评估自身自动驾驶架构能否利用V2X数据，还是被锁定在纯视觉-激光雷达方案。</a:t>
            </a:r>
            <a:endParaRPr lang="en-US" sz="1000" dirty="0"/>
          </a:p>
        </p:txBody>
      </p:sp>
      <p:sp>
        <p:nvSpPr>
          <p:cNvPr id="30" name="Text 28"/>
          <p:cNvSpPr/>
          <p:nvPr/>
        </p:nvSpPr>
        <p:spPr>
          <a:xfrm>
            <a:off x="457200" y="4800600"/>
            <a:ext cx="8229600" cy="164592"/>
          </a:xfrm>
          <a:prstGeom prst="rect">
            <a:avLst/>
          </a:prstGeom>
          <a:noFill/>
          <a:ln/>
        </p:spPr>
        <p:txBody>
          <a:bodyPr wrap="square" lIns="0" tIns="0" rIns="0" bIns="0" rtlCol="0" anchor="ctr"/>
          <a:lstStyle/>
          <a:p>
            <a:pPr indent="0" marL="0">
              <a:buNone/>
            </a:pPr>
            <a:r>
              <a:rPr lang="en-US" sz="700" dirty="0">
                <a:solidFill>
                  <a:srgbClr val="94A3B8"/>
                </a:solidFill>
                <a:latin typeface="Calibri" pitchFamily="34" charset="0"/>
                <a:ea typeface="Calibri" pitchFamily="34" charset="-122"/>
                <a:cs typeface="Calibri" pitchFamily="34" charset="-120"/>
              </a:rPr>
              <a:t>Source: 证券时报 (Securities Times)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2"/>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DC2626"/>
          </a:solidFill>
          <a:ln/>
        </p:spPr>
      </p:sp>
      <p:sp>
        <p:nvSpPr>
          <p:cNvPr id="3" name="Text 1"/>
          <p:cNvSpPr/>
          <p:nvPr/>
        </p:nvSpPr>
        <p:spPr>
          <a:xfrm>
            <a:off x="731520" y="1371600"/>
            <a:ext cx="7680960" cy="548640"/>
          </a:xfrm>
          <a:prstGeom prst="rect">
            <a:avLst/>
          </a:prstGeom>
          <a:noFill/>
          <a:ln/>
        </p:spPr>
        <p:txBody>
          <a:bodyPr wrap="square" lIns="0" tIns="0" rIns="0" bIns="0" rtlCol="0" anchor="ctr"/>
          <a:lstStyle/>
          <a:p>
            <a:pPr indent="0" marL="0">
              <a:buNone/>
            </a:pPr>
            <a:r>
              <a:rPr lang="en-US" sz="3600" spc="600" kern="0" dirty="0">
                <a:solidFill>
                  <a:srgbClr val="FFFFFF"/>
                </a:solidFill>
                <a:latin typeface="Arial Black" pitchFamily="34" charset="0"/>
                <a:ea typeface="Arial Black" pitchFamily="34" charset="-122"/>
                <a:cs typeface="Arial Black" pitchFamily="34" charset="-120"/>
              </a:rPr>
              <a:t>SINO-SIGNALS</a:t>
            </a:r>
            <a:endParaRPr lang="en-US" sz="3600" dirty="0"/>
          </a:p>
        </p:txBody>
      </p:sp>
      <p:sp>
        <p:nvSpPr>
          <p:cNvPr id="4" name="Text 2"/>
          <p:cNvSpPr/>
          <p:nvPr/>
        </p:nvSpPr>
        <p:spPr>
          <a:xfrm>
            <a:off x="731520" y="2103120"/>
            <a:ext cx="7680960" cy="594360"/>
          </a:xfrm>
          <a:prstGeom prst="rect">
            <a:avLst/>
          </a:prstGeom>
          <a:noFill/>
          <a:ln/>
        </p:spPr>
        <p:txBody>
          <a:bodyPr wrap="square" lIns="0" tIns="0" rIns="0" bIns="0" rtlCol="0" anchor="ctr"/>
          <a:lstStyle/>
          <a:p>
            <a:pPr indent="0" marL="0">
              <a:buNone/>
            </a:pPr>
            <a:r>
              <a:rPr lang="en-US" sz="1400" dirty="0">
                <a:solidFill>
                  <a:srgbClr val="E8ECF0"/>
                </a:solidFill>
                <a:latin typeface="Calibri" pitchFamily="34" charset="0"/>
                <a:ea typeface="Calibri" pitchFamily="34" charset="-122"/>
                <a:cs typeface="Calibri" pitchFamily="34" charset="-120"/>
              </a:rPr>
              <a:t>Daily AI intelligence from Chinese-language sources.</a:t>
            </a:r>
            <a:endParaRPr lang="en-US" sz="1400" dirty="0"/>
          </a:p>
          <a:p>
            <a:pPr indent="0" marL="0">
              <a:buNone/>
            </a:pPr>
            <a:r>
              <a:rPr lang="en-US" sz="1400" dirty="0">
                <a:solidFill>
                  <a:srgbClr val="E8ECF0"/>
                </a:solidFill>
                <a:latin typeface="Calibri" pitchFamily="34" charset="0"/>
                <a:ea typeface="Calibri" pitchFamily="34" charset="-122"/>
                <a:cs typeface="Calibri" pitchFamily="34" charset="-120"/>
              </a:rPr>
              <a:t>Applying IFTF foresight methodology for Western leaders.</a:t>
            </a:r>
            <a:endParaRPr lang="en-US" sz="1400" dirty="0"/>
          </a:p>
        </p:txBody>
      </p:sp>
      <p:sp>
        <p:nvSpPr>
          <p:cNvPr id="5" name="Text 3"/>
          <p:cNvSpPr/>
          <p:nvPr/>
        </p:nvSpPr>
        <p:spPr>
          <a:xfrm>
            <a:off x="731520" y="2834640"/>
            <a:ext cx="7680960" cy="365760"/>
          </a:xfrm>
          <a:prstGeom prst="rect">
            <a:avLst/>
          </a:prstGeom>
          <a:noFill/>
          <a:ln/>
        </p:spPr>
        <p:txBody>
          <a:bodyPr wrap="square" lIns="0" tIns="0" rIns="0" bIns="0" rtlCol="0" anchor="ctr"/>
          <a:lstStyle/>
          <a:p>
            <a:pPr indent="0" marL="0">
              <a:buNone/>
            </a:pPr>
            <a:r>
              <a:rPr lang="en-US" sz="1300" dirty="0">
                <a:solidFill>
                  <a:srgbClr val="94A3B8"/>
                </a:solidFill>
                <a:latin typeface="Arial" pitchFamily="34" charset="0"/>
                <a:ea typeface="Arial" pitchFamily="34" charset="-122"/>
                <a:cs typeface="Arial" pitchFamily="34" charset="-120"/>
              </a:rPr>
              <a:t>每日中文源AI情报，运用IFTF前瞻方法论服务西方决策者。</a:t>
            </a:r>
            <a:endParaRPr lang="en-US" sz="1300" dirty="0"/>
          </a:p>
        </p:txBody>
      </p:sp>
      <p:sp>
        <p:nvSpPr>
          <p:cNvPr id="6" name="Text 4"/>
          <p:cNvSpPr/>
          <p:nvPr/>
        </p:nvSpPr>
        <p:spPr>
          <a:xfrm>
            <a:off x="731520" y="3520440"/>
            <a:ext cx="7680960" cy="365760"/>
          </a:xfrm>
          <a:prstGeom prst="rect">
            <a:avLst/>
          </a:prstGeom>
          <a:noFill/>
          <a:ln/>
        </p:spPr>
        <p:txBody>
          <a:bodyPr wrap="square" lIns="0" tIns="0" rIns="0" bIns="0" rtlCol="0" anchor="ctr"/>
          <a:lstStyle/>
          <a:p>
            <a:pPr indent="0" marL="0">
              <a:buNone/>
            </a:pPr>
            <a:r>
              <a:rPr lang="en-US" sz="1600" b="1" dirty="0">
                <a:solidFill>
                  <a:srgbClr val="F59E0B"/>
                </a:solidFill>
                <a:latin typeface="Calibri" pitchFamily="34" charset="0"/>
                <a:ea typeface="Calibri" pitchFamily="34" charset="-122"/>
                <a:cs typeface="Calibri" pitchFamily="34" charset="-120"/>
              </a:rPr>
              <a:t>josephpress.com/sino-signals</a:t>
            </a:r>
            <a:endParaRPr lang="en-US" sz="1600" dirty="0"/>
          </a:p>
        </p:txBody>
      </p:sp>
      <p:sp>
        <p:nvSpPr>
          <p:cNvPr id="7" name="Text 5"/>
          <p:cNvSpPr/>
          <p:nvPr/>
        </p:nvSpPr>
        <p:spPr>
          <a:xfrm>
            <a:off x="731520" y="4023360"/>
            <a:ext cx="768096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Joseph Press  /  josephpress1@gmail.com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Sino-Signals: China Mobility &amp; Transportation Intelligence | April 8, 2026</dc:title>
  <dc:subject>PptxGenJS Presentation</dc:subject>
  <dc:creator>Joseph Press / Sino-Signals</dc:creator>
  <cp:lastModifiedBy>Joseph Press / Sino-Signals</cp:lastModifiedBy>
  <cp:revision>1</cp:revision>
  <dcterms:created xsi:type="dcterms:W3CDTF">2026-04-07T22:48:57Z</dcterms:created>
  <dcterms:modified xsi:type="dcterms:W3CDTF">2026-04-07T22:48:57Z</dcterms:modified>
</cp:coreProperties>
</file>